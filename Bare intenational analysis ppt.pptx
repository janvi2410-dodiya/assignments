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6" r:id="rId1"/>
  </p:sldMasterIdLst>
  <p:notesMasterIdLst>
    <p:notesMasterId r:id="rId21"/>
  </p:notesMasterIdLst>
  <p:sldIdLst>
    <p:sldId id="257" r:id="rId2"/>
    <p:sldId id="258" r:id="rId3"/>
    <p:sldId id="259" r:id="rId4"/>
    <p:sldId id="260" r:id="rId5"/>
    <p:sldId id="263" r:id="rId6"/>
    <p:sldId id="264" r:id="rId7"/>
    <p:sldId id="267" r:id="rId8"/>
    <p:sldId id="266" r:id="rId9"/>
    <p:sldId id="269" r:id="rId10"/>
    <p:sldId id="268" r:id="rId11"/>
    <p:sldId id="270" r:id="rId12"/>
    <p:sldId id="272" r:id="rId13"/>
    <p:sldId id="271" r:id="rId14"/>
    <p:sldId id="273" r:id="rId15"/>
    <p:sldId id="274" r:id="rId16"/>
    <p:sldId id="276" r:id="rId17"/>
    <p:sldId id="277" r:id="rId18"/>
    <p:sldId id="278" r:id="rId19"/>
    <p:sldId id="279"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0" d="100"/>
          <a:sy n="60" d="100"/>
        </p:scale>
        <p:origin x="1460" y="4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DB9B544-18CE-46D9-A70C-F148327D2E67}" type="datetimeFigureOut">
              <a:rPr lang="en-US" smtClean="0"/>
              <a:t>9/11/2026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9BE8750-2D3E-4EB8-AA85-788BCF67A42E}" type="slidenum">
              <a:rPr lang="en-US" smtClean="0"/>
              <a:t>‹#›</a:t>
            </a:fld>
            <a:endParaRPr lang="en-US"/>
          </a:p>
        </p:txBody>
      </p:sp>
    </p:spTree>
    <p:extLst>
      <p:ext uri="{BB962C8B-B14F-4D97-AF65-F5344CB8AC3E}">
        <p14:creationId xmlns:p14="http://schemas.microsoft.com/office/powerpoint/2010/main" val="3478389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7010400" y="152399"/>
            <a:ext cx="1981200" cy="655624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52400" y="153923"/>
            <a:ext cx="6705600" cy="6553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7010400" y="2052960"/>
            <a:ext cx="1981200" cy="1828800"/>
          </a:xfrm>
        </p:spPr>
        <p:txBody>
          <a:bodyPr anchor="ctr">
            <a:normAutofit/>
          </a:bodyPr>
          <a:lstStyle>
            <a:lvl1pPr marL="0" indent="0" algn="l">
              <a:buNone/>
              <a:defRPr sz="19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10" name="Date Placeholder 9"/>
          <p:cNvSpPr>
            <a:spLocks noGrp="1"/>
          </p:cNvSpPr>
          <p:nvPr>
            <p:ph type="dt" sz="half" idx="10"/>
          </p:nvPr>
        </p:nvSpPr>
        <p:spPr/>
        <p:txBody>
          <a:bodyPr/>
          <a:lstStyle>
            <a:lvl1pPr>
              <a:defRPr>
                <a:solidFill>
                  <a:schemeClr val="bg2"/>
                </a:solidFill>
              </a:defRPr>
            </a:lvl1pPr>
          </a:lstStyle>
          <a:p>
            <a:fld id="{99807A86-C577-41A2-A3F9-FE8E4D376422}" type="datetimeFigureOut">
              <a:rPr lang="en-US" smtClean="0"/>
              <a:t>9/11/2026</a:t>
            </a:fld>
            <a:endParaRPr lang="en-US"/>
          </a:p>
        </p:txBody>
      </p:sp>
      <p:sp>
        <p:nvSpPr>
          <p:cNvPr id="11" name="Slide Number Placeholder 10"/>
          <p:cNvSpPr>
            <a:spLocks noGrp="1"/>
          </p:cNvSpPr>
          <p:nvPr>
            <p:ph type="sldNum" sz="quarter" idx="11"/>
          </p:nvPr>
        </p:nvSpPr>
        <p:spPr/>
        <p:txBody>
          <a:bodyPr/>
          <a:lstStyle>
            <a:lvl1pPr>
              <a:defRPr>
                <a:solidFill>
                  <a:srgbClr val="FFFFFF"/>
                </a:solidFill>
              </a:defRPr>
            </a:lvl1pPr>
          </a:lstStyle>
          <a:p>
            <a:fld id="{A82A4B5D-268F-4D52-B67D-03AA9BDE20B5}" type="slidenum">
              <a:rPr lang="en-US" smtClean="0"/>
              <a:t>‹#›</a:t>
            </a:fld>
            <a:endParaRPr lang="en-US"/>
          </a:p>
        </p:txBody>
      </p:sp>
      <p:sp>
        <p:nvSpPr>
          <p:cNvPr id="12" name="Footer Placeholder 11"/>
          <p:cNvSpPr>
            <a:spLocks noGrp="1"/>
          </p:cNvSpPr>
          <p:nvPr>
            <p:ph type="ftr" sz="quarter" idx="12"/>
          </p:nvPr>
        </p:nvSpPr>
        <p:spPr/>
        <p:txBody>
          <a:bodyPr/>
          <a:lstStyle>
            <a:lvl1pPr>
              <a:defRPr>
                <a:solidFill>
                  <a:schemeClr val="bg2"/>
                </a:solidFill>
              </a:defRPr>
            </a:lvl1pPr>
          </a:lstStyle>
          <a:p>
            <a:endParaRPr lang="en-US"/>
          </a:p>
        </p:txBody>
      </p:sp>
      <p:sp>
        <p:nvSpPr>
          <p:cNvPr id="13" name="Title 12"/>
          <p:cNvSpPr>
            <a:spLocks noGrp="1"/>
          </p:cNvSpPr>
          <p:nvPr>
            <p:ph type="title"/>
          </p:nvPr>
        </p:nvSpPr>
        <p:spPr>
          <a:xfrm>
            <a:off x="457200" y="2052960"/>
            <a:ext cx="6324600" cy="1828800"/>
          </a:xfrm>
        </p:spPr>
        <p:txBody>
          <a:bodyPr/>
          <a:lstStyle>
            <a:lvl1pPr algn="r">
              <a:defRPr sz="4200" spc="150" baseline="0"/>
            </a:lvl1pPr>
          </a:lstStyle>
          <a:p>
            <a:r>
              <a:rPr lang="en-US"/>
              <a:t>Click to edit Master 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9807A86-C577-41A2-A3F9-FE8E4D376422}"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2A4B5D-268F-4D52-B67D-03AA9BDE20B5}" type="slidenum">
              <a:rPr lang="en-US" smtClean="0"/>
              <a:t>‹#›</a:t>
            </a:fld>
            <a:endParaRPr lang="en-US"/>
          </a:p>
        </p:txBody>
      </p:sp>
      <p:sp>
        <p:nvSpPr>
          <p:cNvPr id="7" name="Title 6"/>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7010400" y="152399"/>
            <a:ext cx="1981200" cy="655624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52400" y="153923"/>
            <a:ext cx="6705600" cy="6553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idx="1"/>
          </p:nvPr>
        </p:nvSpPr>
        <p:spPr>
          <a:xfrm>
            <a:off x="7162799" y="2892277"/>
            <a:ext cx="1600201" cy="1645920"/>
          </a:xfrm>
        </p:spPr>
        <p:txBody>
          <a:bodyPr anchor="ctr"/>
          <a:lstStyle>
            <a:lvl1pPr marL="0" indent="0">
              <a:buNone/>
              <a:defRPr sz="2000">
                <a:solidFill>
                  <a:schemeClr val="bg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Date Placeholder 8"/>
          <p:cNvSpPr>
            <a:spLocks noGrp="1"/>
          </p:cNvSpPr>
          <p:nvPr>
            <p:ph type="dt" sz="half" idx="10"/>
          </p:nvPr>
        </p:nvSpPr>
        <p:spPr/>
        <p:txBody>
          <a:bodyPr/>
          <a:lstStyle>
            <a:lvl1pPr>
              <a:defRPr>
                <a:solidFill>
                  <a:srgbClr val="FFFFFF"/>
                </a:solidFill>
              </a:defRPr>
            </a:lvl1pPr>
          </a:lstStyle>
          <a:p>
            <a:fld id="{99807A86-C577-41A2-A3F9-FE8E4D376422}" type="datetimeFigureOut">
              <a:rPr lang="en-US" smtClean="0"/>
              <a:t>9/11/2026</a:t>
            </a:fld>
            <a:endParaRPr lang="en-US"/>
          </a:p>
        </p:txBody>
      </p:sp>
      <p:sp>
        <p:nvSpPr>
          <p:cNvPr id="10" name="Slide Number Placeholder 9"/>
          <p:cNvSpPr>
            <a:spLocks noGrp="1"/>
          </p:cNvSpPr>
          <p:nvPr>
            <p:ph type="sldNum" sz="quarter" idx="11"/>
          </p:nvPr>
        </p:nvSpPr>
        <p:spPr/>
        <p:txBody>
          <a:bodyPr/>
          <a:lstStyle>
            <a:lvl1pPr>
              <a:defRPr>
                <a:solidFill>
                  <a:schemeClr val="bg2"/>
                </a:solidFill>
              </a:defRPr>
            </a:lvl1pPr>
          </a:lstStyle>
          <a:p>
            <a:fld id="{A82A4B5D-268F-4D52-B67D-03AA9BDE20B5}" type="slidenum">
              <a:rPr lang="en-US" smtClean="0"/>
              <a:t>‹#›</a:t>
            </a:fld>
            <a:endParaRPr lang="en-US"/>
          </a:p>
        </p:txBody>
      </p:sp>
      <p:sp>
        <p:nvSpPr>
          <p:cNvPr id="11" name="Footer Placeholder 10"/>
          <p:cNvSpPr>
            <a:spLocks noGrp="1"/>
          </p:cNvSpPr>
          <p:nvPr>
            <p:ph type="ftr" sz="quarter" idx="12"/>
          </p:nvPr>
        </p:nvSpPr>
        <p:spPr/>
        <p:txBody>
          <a:bodyPr/>
          <a:lstStyle>
            <a:lvl1pPr>
              <a:defRPr>
                <a:solidFill>
                  <a:srgbClr val="FFFFFF"/>
                </a:solidFill>
              </a:defRPr>
            </a:lvl1pPr>
          </a:lstStyle>
          <a:p>
            <a:endParaRPr lang="en-US"/>
          </a:p>
        </p:txBody>
      </p:sp>
      <p:sp>
        <p:nvSpPr>
          <p:cNvPr id="12" name="Title 11"/>
          <p:cNvSpPr>
            <a:spLocks noGrp="1"/>
          </p:cNvSpPr>
          <p:nvPr>
            <p:ph type="title"/>
          </p:nvPr>
        </p:nvSpPr>
        <p:spPr>
          <a:xfrm>
            <a:off x="381000" y="2892277"/>
            <a:ext cx="6324600" cy="1645920"/>
          </a:xfrm>
        </p:spPr>
        <p:txBody>
          <a:bodyPr/>
          <a:lstStyle>
            <a:lvl1pPr algn="r">
              <a:defRPr sz="4200" spc="150" baseline="0"/>
            </a:lvl1pPr>
          </a:lstStyle>
          <a:p>
            <a:r>
              <a:rPr lang="en-US"/>
              <a:t>Click to edit Master title style</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719072"/>
            <a:ext cx="4038600" cy="440740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719072"/>
            <a:ext cx="4038600" cy="440740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9807A86-C577-41A2-A3F9-FE8E4D376422}"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82A4B5D-268F-4D52-B67D-03AA9BDE20B5}" type="slidenum">
              <a:rPr lang="en-US" smtClean="0"/>
              <a:t>‹#›</a:t>
            </a:fld>
            <a:endParaRPr lang="en-US"/>
          </a:p>
        </p:txBody>
      </p:sp>
      <p:sp>
        <p:nvSpPr>
          <p:cNvPr id="8" name="Title 7"/>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722438"/>
            <a:ext cx="4040188" cy="639762"/>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438399"/>
            <a:ext cx="4040188" cy="36877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722438"/>
            <a:ext cx="4041775" cy="639762"/>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438399"/>
            <a:ext cx="4041775" cy="36877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9807A86-C577-41A2-A3F9-FE8E4D376422}" type="datetimeFigureOut">
              <a:rPr lang="en-US" smtClean="0"/>
              <a:t>9/11/2026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82A4B5D-268F-4D52-B67D-03AA9BDE20B5}" type="slidenum">
              <a:rPr lang="en-US" smtClean="0"/>
              <a:t>‹#›</a:t>
            </a:fld>
            <a:endParaRPr lang="en-US"/>
          </a:p>
        </p:txBody>
      </p:sp>
      <p:sp>
        <p:nvSpPr>
          <p:cNvPr id="10" name="Title 9"/>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99807A86-C577-41A2-A3F9-FE8E4D376422}" type="datetimeFigureOut">
              <a:rPr lang="en-US" smtClean="0"/>
              <a:t>9/11/2026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82A4B5D-268F-4D52-B67D-03AA9BDE20B5}" type="slidenum">
              <a:rPr lang="en-US" smtClean="0"/>
              <a:t>‹#›</a:t>
            </a:fld>
            <a:endParaRPr lang="en-US"/>
          </a:p>
        </p:txBody>
      </p:sp>
      <p:sp>
        <p:nvSpPr>
          <p:cNvPr id="6" name="Title 5"/>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52400" y="150919"/>
            <a:ext cx="8831802" cy="655624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p:cNvSpPr>
            <a:spLocks noGrp="1"/>
          </p:cNvSpPr>
          <p:nvPr>
            <p:ph type="dt" sz="half" idx="10"/>
          </p:nvPr>
        </p:nvSpPr>
        <p:spPr/>
        <p:txBody>
          <a:bodyPr/>
          <a:lstStyle/>
          <a:p>
            <a:fld id="{99807A86-C577-41A2-A3F9-FE8E4D376422}" type="datetimeFigureOut">
              <a:rPr lang="en-US" smtClean="0"/>
              <a:t>9/11/2026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82A4B5D-268F-4D52-B67D-03AA9BDE20B5}"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2"/>
      </p:bgRef>
    </p:bg>
    <p:spTree>
      <p:nvGrpSpPr>
        <p:cNvPr id="1" name=""/>
        <p:cNvGrpSpPr/>
        <p:nvPr/>
      </p:nvGrpSpPr>
      <p:grpSpPr>
        <a:xfrm>
          <a:off x="0" y="0"/>
          <a:ext cx="0" cy="0"/>
          <a:chOff x="0" y="0"/>
          <a:chExt cx="0" cy="0"/>
        </a:xfrm>
      </p:grpSpPr>
      <p:sp>
        <p:nvSpPr>
          <p:cNvPr id="10" name="Rectangle 9"/>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7010400" y="150876"/>
            <a:ext cx="1981200" cy="655624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Rectangle 8"/>
          <p:cNvSpPr/>
          <p:nvPr/>
        </p:nvSpPr>
        <p:spPr>
          <a:xfrm>
            <a:off x="152400" y="152400"/>
            <a:ext cx="6705600" cy="6553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09600" y="304800"/>
            <a:ext cx="58674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159752" y="2130552"/>
            <a:ext cx="1673352" cy="2816352"/>
          </a:xfrm>
        </p:spPr>
        <p:txBody>
          <a:bodyPr tIns="0"/>
          <a:lstStyle>
            <a:lvl1pPr marL="0" indent="0">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9807A86-C577-41A2-A3F9-FE8E4D376422}"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ln>
            <a:noFill/>
          </a:ln>
        </p:spPr>
        <p:txBody>
          <a:bodyPr/>
          <a:lstStyle>
            <a:lvl1pPr>
              <a:defRPr>
                <a:solidFill>
                  <a:srgbClr val="FFFFFF"/>
                </a:solidFill>
              </a:defRPr>
            </a:lvl1pPr>
          </a:lstStyle>
          <a:p>
            <a:fld id="{A82A4B5D-268F-4D52-B67D-03AA9BDE20B5}" type="slidenum">
              <a:rPr lang="en-US" smtClean="0"/>
              <a:t>‹#›</a:t>
            </a:fld>
            <a:endParaRPr lang="en-US"/>
          </a:p>
        </p:txBody>
      </p:sp>
      <p:sp>
        <p:nvSpPr>
          <p:cNvPr id="11" name="Title 10"/>
          <p:cNvSpPr>
            <a:spLocks noGrp="1"/>
          </p:cNvSpPr>
          <p:nvPr>
            <p:ph type="title"/>
          </p:nvPr>
        </p:nvSpPr>
        <p:spPr>
          <a:xfrm>
            <a:off x="7159752" y="457200"/>
            <a:ext cx="1675660" cy="1673352"/>
          </a:xfrm>
        </p:spPr>
        <p:txBody>
          <a:bodyPr anchor="b"/>
          <a:lstStyle>
            <a:lvl1pPr algn="l">
              <a:defRPr sz="2000" spc="150" baseline="0"/>
            </a:lvl1pPr>
          </a:lstStyle>
          <a:p>
            <a:r>
              <a:rPr lang="en-US"/>
              <a:t>Click to edit Master title style</a:t>
            </a:r>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Rectangle 8"/>
          <p:cNvSpPr/>
          <p:nvPr/>
        </p:nvSpPr>
        <p:spPr>
          <a:xfrm>
            <a:off x="7010400" y="150876"/>
            <a:ext cx="1981200" cy="655624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152400" y="152400"/>
            <a:ext cx="6705600" cy="6553200"/>
          </a:xfrm>
        </p:spPr>
        <p:txBody>
          <a:bodyPr anchor="ct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162800" y="2133600"/>
            <a:ext cx="1676400" cy="2971800"/>
          </a:xfrm>
        </p:spPr>
        <p:txBody>
          <a:bodyPr tIns="0"/>
          <a:lstStyle>
            <a:lvl1pPr marL="0" indent="0">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9807A86-C577-41A2-A3F9-FE8E4D376422}"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82A4B5D-268F-4D52-B67D-03AA9BDE20B5}" type="slidenum">
              <a:rPr lang="en-US" smtClean="0"/>
              <a:t>‹#›</a:t>
            </a:fld>
            <a:endParaRPr lang="en-US"/>
          </a:p>
        </p:txBody>
      </p:sp>
      <p:sp>
        <p:nvSpPr>
          <p:cNvPr id="10" name="Title 9"/>
          <p:cNvSpPr>
            <a:spLocks noGrp="1"/>
          </p:cNvSpPr>
          <p:nvPr>
            <p:ph type="title"/>
          </p:nvPr>
        </p:nvSpPr>
        <p:spPr>
          <a:xfrm>
            <a:off x="7162800" y="460248"/>
            <a:ext cx="1676400" cy="1673352"/>
          </a:xfrm>
        </p:spPr>
        <p:txBody>
          <a:bodyPr anchor="b"/>
          <a:lstStyle>
            <a:lvl1pPr algn="l">
              <a:defRPr sz="2000" spc="150" baseline="0">
                <a:solidFill>
                  <a:schemeClr val="tx2"/>
                </a:solidFill>
              </a:defRPr>
            </a:lvl1pPr>
          </a:lstStyle>
          <a:p>
            <a:r>
              <a:rPr lang="en-US"/>
              <a:t>Click to edit Master title style</a:t>
            </a:r>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9807A86-C577-41A2-A3F9-FE8E4D376422}"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2A4B5D-268F-4D52-B67D-03AA9BDE20B5}"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152400" y="147319"/>
            <a:ext cx="6705600" cy="655624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7010400" y="147319"/>
            <a:ext cx="1956046" cy="655624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p:cNvSpPr>
            <a:spLocks noGrp="1"/>
          </p:cNvSpPr>
          <p:nvPr>
            <p:ph type="title" orient="vert"/>
          </p:nvPr>
        </p:nvSpPr>
        <p:spPr>
          <a:xfrm>
            <a:off x="7162800" y="274638"/>
            <a:ext cx="1676400" cy="585152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9807A86-C577-41A2-A3F9-FE8E4D376422}"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chemeClr val="bg2"/>
                </a:solidFill>
              </a:defRPr>
            </a:lvl1pPr>
          </a:lstStyle>
          <a:p>
            <a:fld id="{A82A4B5D-268F-4D52-B67D-03AA9BDE20B5}"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152400" y="1634971"/>
            <a:ext cx="8831802" cy="504547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52399" y="152400"/>
            <a:ext cx="8814047" cy="13464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381000" y="355847"/>
            <a:ext cx="8381260" cy="105439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380999" y="1719071"/>
            <a:ext cx="8407893" cy="440740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70888" y="6356350"/>
            <a:ext cx="2133600" cy="274320"/>
          </a:xfrm>
          <a:prstGeom prst="rect">
            <a:avLst/>
          </a:prstGeom>
        </p:spPr>
        <p:txBody>
          <a:bodyPr vert="horz" lIns="91440" tIns="45720" rIns="91440" bIns="45720" rtlCol="0" anchor="ctr"/>
          <a:lstStyle>
            <a:lvl1pPr algn="l">
              <a:defRPr sz="1100">
                <a:solidFill>
                  <a:schemeClr val="tx2"/>
                </a:solidFill>
              </a:defRPr>
            </a:lvl1pPr>
          </a:lstStyle>
          <a:p>
            <a:fld id="{99807A86-C577-41A2-A3F9-FE8E4D376422}" type="datetimeFigureOut">
              <a:rPr lang="en-US" smtClean="0"/>
              <a:t>9/11/2026</a:t>
            </a:fld>
            <a:endParaRPr lang="en-US"/>
          </a:p>
        </p:txBody>
      </p:sp>
      <p:sp>
        <p:nvSpPr>
          <p:cNvPr id="5" name="Footer Placeholder 4"/>
          <p:cNvSpPr>
            <a:spLocks noGrp="1"/>
          </p:cNvSpPr>
          <p:nvPr>
            <p:ph type="ftr" sz="quarter" idx="3"/>
          </p:nvPr>
        </p:nvSpPr>
        <p:spPr>
          <a:xfrm>
            <a:off x="3048000" y="6356350"/>
            <a:ext cx="3352800" cy="274320"/>
          </a:xfrm>
          <a:prstGeom prst="rect">
            <a:avLst/>
          </a:prstGeom>
        </p:spPr>
        <p:txBody>
          <a:bodyPr vert="horz" lIns="91440" tIns="45720" rIns="91440" bIns="45720" rtlCol="0" anchor="ctr"/>
          <a:lstStyle>
            <a:lvl1pPr algn="ctr">
              <a:defRPr sz="1100">
                <a:solidFill>
                  <a:schemeClr val="tx2"/>
                </a:solidFill>
              </a:defRPr>
            </a:lvl1pPr>
          </a:lstStyle>
          <a:p>
            <a:endParaRPr lang="en-US"/>
          </a:p>
        </p:txBody>
      </p:sp>
      <p:sp>
        <p:nvSpPr>
          <p:cNvPr id="6" name="Slide Number Placeholder 5"/>
          <p:cNvSpPr>
            <a:spLocks noGrp="1"/>
          </p:cNvSpPr>
          <p:nvPr>
            <p:ph type="sldNum" sz="quarter" idx="4"/>
          </p:nvPr>
        </p:nvSpPr>
        <p:spPr>
          <a:xfrm>
            <a:off x="8234680" y="6355080"/>
            <a:ext cx="582966" cy="274320"/>
          </a:xfrm>
          <a:prstGeom prst="rect">
            <a:avLst/>
          </a:prstGeom>
          <a:ln w="19050">
            <a:noFill/>
          </a:ln>
        </p:spPr>
        <p:txBody>
          <a:bodyPr vert="horz" lIns="91440" tIns="45720" rIns="91440" bIns="45720" rtlCol="0" anchor="ctr"/>
          <a:lstStyle>
            <a:lvl1pPr algn="ctr">
              <a:defRPr sz="1100">
                <a:solidFill>
                  <a:schemeClr val="tx2"/>
                </a:solidFill>
              </a:defRPr>
            </a:lvl1pPr>
          </a:lstStyle>
          <a:p>
            <a:fld id="{A82A4B5D-268F-4D52-B67D-03AA9BDE20B5}"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txStyles>
    <p:titleStyle>
      <a:lvl1pPr algn="ctr" defTabSz="914400" rtl="0" eaLnBrk="1" latinLnBrk="0" hangingPunct="1">
        <a:spcBef>
          <a:spcPct val="0"/>
        </a:spcBef>
        <a:buNone/>
        <a:defRPr sz="3200" kern="1200" cap="all" spc="200" baseline="0">
          <a:ln>
            <a:noFill/>
          </a:ln>
          <a:solidFill>
            <a:schemeClr val="bg1"/>
          </a:solidFill>
          <a:effectLst/>
          <a:latin typeface="+mj-lt"/>
          <a:ea typeface="+mj-ea"/>
          <a:cs typeface="+mj-cs"/>
        </a:defRPr>
      </a:lvl1pPr>
    </p:titleStyle>
    <p:bodyStyle>
      <a:lvl1pPr marL="274320" indent="-228600" algn="l" defTabSz="914400" rtl="0" eaLnBrk="1" latinLnBrk="0" hangingPunct="1">
        <a:spcBef>
          <a:spcPct val="20000"/>
        </a:spcBef>
        <a:buClr>
          <a:schemeClr val="accent1"/>
        </a:buClr>
        <a:buFont typeface="Wingdings 2" pitchFamily="18" charset="2"/>
        <a:buChar char=""/>
        <a:defRPr sz="2000" kern="1200" spc="150" baseline="0">
          <a:solidFill>
            <a:schemeClr val="tx2"/>
          </a:solidFill>
          <a:latin typeface="+mn-lt"/>
          <a:ea typeface="+mn-ea"/>
          <a:cs typeface="+mn-cs"/>
        </a:defRPr>
      </a:lvl1pPr>
      <a:lvl2pPr marL="548640" indent="-182880" algn="l" defTabSz="914400" rtl="0" eaLnBrk="1" latinLnBrk="0" hangingPunct="1">
        <a:spcBef>
          <a:spcPct val="20000"/>
        </a:spcBef>
        <a:buClr>
          <a:schemeClr val="accent2"/>
        </a:buClr>
        <a:buFont typeface="Wingdings" pitchFamily="2" charset="2"/>
        <a:buChar char="§"/>
        <a:defRPr sz="1800" kern="1200" spc="100" baseline="0">
          <a:solidFill>
            <a:schemeClr val="tx2"/>
          </a:solidFill>
          <a:latin typeface="+mn-lt"/>
          <a:ea typeface="+mn-ea"/>
          <a:cs typeface="+mn-cs"/>
        </a:defRPr>
      </a:lvl2pPr>
      <a:lvl3pPr marL="822960" indent="-182880" algn="l" defTabSz="914400" rtl="0" eaLnBrk="1" latinLnBrk="0" hangingPunct="1">
        <a:spcBef>
          <a:spcPct val="20000"/>
        </a:spcBef>
        <a:buClr>
          <a:schemeClr val="accent3"/>
        </a:buClr>
        <a:buFont typeface="Wingdings" pitchFamily="2" charset="2"/>
        <a:buChar char="§"/>
        <a:defRPr sz="1600" kern="1200" spc="100" baseline="0">
          <a:solidFill>
            <a:schemeClr val="tx2"/>
          </a:solidFill>
          <a:latin typeface="+mn-lt"/>
          <a:ea typeface="+mn-ea"/>
          <a:cs typeface="+mn-cs"/>
        </a:defRPr>
      </a:lvl3pPr>
      <a:lvl4pPr marL="1097280" indent="-182880" algn="l" defTabSz="914400" rtl="0" eaLnBrk="1" latinLnBrk="0" hangingPunct="1">
        <a:spcBef>
          <a:spcPct val="20000"/>
        </a:spcBef>
        <a:buClr>
          <a:schemeClr val="accent4"/>
        </a:buClr>
        <a:buFont typeface="Wingdings" pitchFamily="2" charset="2"/>
        <a:buChar char="§"/>
        <a:defRPr sz="1400" kern="1200">
          <a:solidFill>
            <a:schemeClr val="tx2"/>
          </a:solidFill>
          <a:latin typeface="+mn-lt"/>
          <a:ea typeface="+mn-ea"/>
          <a:cs typeface="+mn-cs"/>
        </a:defRPr>
      </a:lvl4pPr>
      <a:lvl5pPr marL="1280160" indent="-182880" algn="l" defTabSz="914400" rtl="0" eaLnBrk="1" latinLnBrk="0" hangingPunct="1">
        <a:spcBef>
          <a:spcPct val="20000"/>
        </a:spcBef>
        <a:buClr>
          <a:schemeClr val="accent6"/>
        </a:buClr>
        <a:buFont typeface="Wingdings" pitchFamily="2" charset="2"/>
        <a:buChar char="§"/>
        <a:defRPr sz="1300" kern="1200" spc="100" baseline="0">
          <a:solidFill>
            <a:schemeClr val="tx2"/>
          </a:solidFill>
          <a:latin typeface="+mn-lt"/>
          <a:ea typeface="+mn-ea"/>
          <a:cs typeface="+mn-cs"/>
        </a:defRPr>
      </a:lvl5pPr>
      <a:lvl6pPr marL="1554480" indent="-182880" algn="l" defTabSz="914400" rtl="0" eaLnBrk="1" latinLnBrk="0" hangingPunct="1">
        <a:spcBef>
          <a:spcPct val="20000"/>
        </a:spcBef>
        <a:buClr>
          <a:schemeClr val="accent1"/>
        </a:buClr>
        <a:buFont typeface="Wingdings" pitchFamily="2" charset="2"/>
        <a:buChar char="§"/>
        <a:defRPr sz="1200" kern="1200">
          <a:solidFill>
            <a:schemeClr val="tx2"/>
          </a:solidFill>
          <a:latin typeface="+mn-lt"/>
          <a:ea typeface="+mn-ea"/>
          <a:cs typeface="+mn-cs"/>
        </a:defRPr>
      </a:lvl6pPr>
      <a:lvl7pPr marL="1828800" indent="-182880" algn="l" defTabSz="914400" rtl="0" eaLnBrk="1" latinLnBrk="0" hangingPunct="1">
        <a:spcBef>
          <a:spcPct val="20000"/>
        </a:spcBef>
        <a:buClr>
          <a:schemeClr val="accent2"/>
        </a:buClr>
        <a:buFont typeface="Wingdings" pitchFamily="2" charset="2"/>
        <a:buChar char="§"/>
        <a:defRPr sz="1200" kern="1200">
          <a:solidFill>
            <a:schemeClr val="tx2"/>
          </a:solidFill>
          <a:latin typeface="+mn-lt"/>
          <a:ea typeface="+mn-ea"/>
          <a:cs typeface="+mn-cs"/>
        </a:defRPr>
      </a:lvl7pPr>
      <a:lvl8pPr marL="2103120" indent="-182880" algn="l" defTabSz="914400" rtl="0" eaLnBrk="1" latinLnBrk="0" hangingPunct="1">
        <a:spcBef>
          <a:spcPct val="20000"/>
        </a:spcBef>
        <a:buClr>
          <a:schemeClr val="accent3"/>
        </a:buClr>
        <a:buFont typeface="Wingdings" pitchFamily="2" charset="2"/>
        <a:buChar char="§"/>
        <a:defRPr sz="1200" kern="1200">
          <a:solidFill>
            <a:schemeClr val="tx2"/>
          </a:solidFill>
          <a:latin typeface="+mn-lt"/>
          <a:ea typeface="+mn-ea"/>
          <a:cs typeface="+mn-cs"/>
        </a:defRPr>
      </a:lvl8pPr>
      <a:lvl9pPr marL="2377440" indent="-182880" algn="l" defTabSz="914400" rtl="0" eaLnBrk="1" latinLnBrk="0" hangingPunct="1">
        <a:spcBef>
          <a:spcPct val="20000"/>
        </a:spcBef>
        <a:buClr>
          <a:schemeClr val="accent5"/>
        </a:buClr>
        <a:buFont typeface="Wingdings" pitchFamily="2" charset="2"/>
        <a:buChar char="§"/>
        <a:defRPr sz="12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dirty="0">
                <a:latin typeface="Bahnschrift SemiBold SemiConden" pitchFamily="34" charset="0"/>
              </a:rPr>
              <a:t>Comprehensive Analysis and Insights</a:t>
            </a:r>
          </a:p>
        </p:txBody>
      </p:sp>
      <p:sp>
        <p:nvSpPr>
          <p:cNvPr id="5" name="Title 4">
            <a:extLst>
              <a:ext uri="{FF2B5EF4-FFF2-40B4-BE49-F238E27FC236}">
                <a16:creationId xmlns:a16="http://schemas.microsoft.com/office/drawing/2014/main" id="{4F85B634-32F3-FA07-E981-47CC7DBB0F15}"/>
              </a:ext>
            </a:extLst>
          </p:cNvPr>
          <p:cNvSpPr>
            <a:spLocks noGrp="1"/>
          </p:cNvSpPr>
          <p:nvPr>
            <p:ph type="title"/>
          </p:nvPr>
        </p:nvSpPr>
        <p:spPr/>
        <p:txBody>
          <a:bodyPr/>
          <a:lstStyle/>
          <a:p>
            <a:r>
              <a:rPr lang="en-US" dirty="0"/>
              <a:t>Bare international analysis</a:t>
            </a:r>
          </a:p>
        </p:txBody>
      </p:sp>
    </p:spTree>
    <p:extLst>
      <p:ext uri="{BB962C8B-B14F-4D97-AF65-F5344CB8AC3E}">
        <p14:creationId xmlns:p14="http://schemas.microsoft.com/office/powerpoint/2010/main" val="10528341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 The project aims to evaluate the performance of Style Advisors using a comprehensive set of criteria. The evaluation data covers various aspects such as store ambiance, first impressions, discovery of customer needs, trial experience, and overall customer service. The primary focus is on understanding how well Style Advisors are performing and identifying areas for improvement. </a:t>
            </a:r>
          </a:p>
        </p:txBody>
      </p:sp>
      <p:sp>
        <p:nvSpPr>
          <p:cNvPr id="2" name="Title 1"/>
          <p:cNvSpPr>
            <a:spLocks noGrp="1"/>
          </p:cNvSpPr>
          <p:nvPr>
            <p:ph type="title"/>
          </p:nvPr>
        </p:nvSpPr>
        <p:spPr/>
        <p:txBody>
          <a:bodyPr/>
          <a:lstStyle/>
          <a:p>
            <a:r>
              <a:rPr lang="en-US" b="1" dirty="0"/>
              <a:t>Overview of the Project:</a:t>
            </a:r>
            <a:endParaRPr lang="en-US" dirty="0"/>
          </a:p>
        </p:txBody>
      </p:sp>
    </p:spTree>
    <p:extLst>
      <p:ext uri="{BB962C8B-B14F-4D97-AF65-F5344CB8AC3E}">
        <p14:creationId xmlns:p14="http://schemas.microsoft.com/office/powerpoint/2010/main" val="2495677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buNone/>
            </a:pPr>
            <a:endParaRPr lang="en-US" dirty="0"/>
          </a:p>
          <a:p>
            <a:r>
              <a:rPr lang="en-US" b="1" dirty="0"/>
              <a:t>Grade Performance Tiers:</a:t>
            </a:r>
            <a:r>
              <a:rPr lang="en-US" dirty="0"/>
              <a:t> Sort store evaluations into clear categories—High, Average, Low, and Bottom—using structured scoring formulas.</a:t>
            </a:r>
          </a:p>
          <a:p>
            <a:r>
              <a:rPr lang="en-US" b="1" dirty="0"/>
              <a:t>Find Regional Leaders:</a:t>
            </a:r>
            <a:r>
              <a:rPr lang="en-US" dirty="0"/>
              <a:t> Figure out which geographic zones are crushing their goals and which ones are falling behind.</a:t>
            </a:r>
          </a:p>
          <a:p>
            <a:r>
              <a:rPr lang="en-US" b="1" dirty="0"/>
              <a:t>Spot Operational Gaps:</a:t>
            </a:r>
            <a:r>
              <a:rPr lang="en-US" dirty="0"/>
              <a:t> Break down specific criteria like store ambiance, staff recommendations, and closing techniques to see exactly where service breaks down.</a:t>
            </a:r>
          </a:p>
          <a:p>
            <a:r>
              <a:rPr lang="en-US" b="1" dirty="0"/>
              <a:t>Deliver Actionable Insights:</a:t>
            </a:r>
            <a:r>
              <a:rPr lang="en-US" dirty="0"/>
              <a:t> Give management clear, practical recommendations backed by data to help improve </a:t>
            </a:r>
            <a:r>
              <a:rPr lang="en-US" dirty="0" err="1"/>
              <a:t>trainin</a:t>
            </a:r>
            <a:endParaRPr lang="en-US" dirty="0"/>
          </a:p>
          <a:p>
            <a:endParaRPr lang="en-US" dirty="0"/>
          </a:p>
        </p:txBody>
      </p:sp>
      <p:sp>
        <p:nvSpPr>
          <p:cNvPr id="2" name="Title 1"/>
          <p:cNvSpPr>
            <a:spLocks noGrp="1"/>
          </p:cNvSpPr>
          <p:nvPr>
            <p:ph type="title"/>
          </p:nvPr>
        </p:nvSpPr>
        <p:spPr/>
        <p:txBody>
          <a:bodyPr>
            <a:normAutofit fontScale="90000"/>
          </a:bodyPr>
          <a:lstStyle/>
          <a:p>
            <a:r>
              <a:rPr lang="en-US" b="1" dirty="0"/>
              <a:t>Objectives of the Analysis:</a:t>
            </a:r>
            <a:br>
              <a:rPr lang="en-US" dirty="0"/>
            </a:br>
            <a:endParaRPr lang="en-US" dirty="0"/>
          </a:p>
        </p:txBody>
      </p:sp>
    </p:spTree>
    <p:extLst>
      <p:ext uri="{BB962C8B-B14F-4D97-AF65-F5344CB8AC3E}">
        <p14:creationId xmlns:p14="http://schemas.microsoft.com/office/powerpoint/2010/main" val="27150263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10000"/>
          </a:bodyPr>
          <a:lstStyle/>
          <a:p>
            <a:r>
              <a:rPr lang="en-US" dirty="0"/>
              <a:t>multiple rows and columns.</a:t>
            </a:r>
          </a:p>
          <a:p>
            <a:r>
              <a:rPr lang="en-US" b="1" dirty="0"/>
              <a:t>Core Identification &amp; Timing Fields:</a:t>
            </a:r>
            <a:r>
              <a:rPr lang="en-US" dirty="0"/>
              <a:t> Columns like </a:t>
            </a:r>
            <a:r>
              <a:rPr lang="en-US" b="1" dirty="0" err="1"/>
              <a:t>Evaluation_Date</a:t>
            </a:r>
            <a:r>
              <a:rPr lang="en-US" dirty="0"/>
              <a:t> record when the store visit happened, while geographical fields like </a:t>
            </a:r>
            <a:r>
              <a:rPr lang="en-US" b="1" dirty="0"/>
              <a:t>Zone</a:t>
            </a:r>
            <a:r>
              <a:rPr lang="en-US" dirty="0"/>
              <a:t> (East, North, South, West) track regional placement.</a:t>
            </a:r>
          </a:p>
          <a:p>
            <a:r>
              <a:rPr lang="en-US" b="1" dirty="0"/>
              <a:t>Scoring &amp; Performance Metrics:</a:t>
            </a:r>
            <a:r>
              <a:rPr lang="en-US" dirty="0"/>
              <a:t> The primary metric is the </a:t>
            </a:r>
            <a:r>
              <a:rPr lang="en-US" b="1" dirty="0" err="1"/>
              <a:t>Evaluation_Score</a:t>
            </a:r>
            <a:r>
              <a:rPr lang="en-US" dirty="0"/>
              <a:t>, which measures overall store performance and serves as the baseline for sorting stores into performance tiers using grading logic.</a:t>
            </a:r>
          </a:p>
          <a:p>
            <a:r>
              <a:rPr lang="en-US" b="1" dirty="0"/>
              <a:t>Detailed Evaluation Criteria:</a:t>
            </a:r>
            <a:r>
              <a:rPr lang="en-US" dirty="0"/>
              <a:t> Specific operational categories—such as </a:t>
            </a:r>
            <a:r>
              <a:rPr lang="en-US" b="1" dirty="0"/>
              <a:t>STORE AMBIANCE</a:t>
            </a:r>
            <a:r>
              <a:rPr lang="en-US" dirty="0"/>
              <a:t>, </a:t>
            </a:r>
            <a:r>
              <a:rPr lang="en-US" b="1" dirty="0"/>
              <a:t>FIRST IMPRESSIONS</a:t>
            </a:r>
            <a:r>
              <a:rPr lang="en-US" dirty="0"/>
              <a:t>, </a:t>
            </a:r>
            <a:r>
              <a:rPr lang="en-US" b="1" dirty="0"/>
              <a:t>DISCOVERY</a:t>
            </a:r>
            <a:r>
              <a:rPr lang="en-US" dirty="0"/>
              <a:t>, </a:t>
            </a:r>
            <a:r>
              <a:rPr lang="en-US" b="1" dirty="0"/>
              <a:t>RECOMMENDATIONS</a:t>
            </a:r>
            <a:r>
              <a:rPr lang="en-US" dirty="0"/>
              <a:t>, </a:t>
            </a:r>
            <a:r>
              <a:rPr lang="en-US" b="1" dirty="0"/>
              <a:t>TRIAL EXPERIENCE &amp; UPSELL</a:t>
            </a:r>
            <a:r>
              <a:rPr lang="en-US" dirty="0"/>
              <a:t>, </a:t>
            </a:r>
            <a:r>
              <a:rPr lang="en-US" b="1" dirty="0"/>
              <a:t>OBJECTION HANDLING</a:t>
            </a:r>
            <a:r>
              <a:rPr lang="en-US" dirty="0"/>
              <a:t>, and </a:t>
            </a:r>
            <a:r>
              <a:rPr lang="en-US" b="1" dirty="0"/>
              <a:t>CLOSURE &amp; CARE</a:t>
            </a:r>
            <a:r>
              <a:rPr lang="en-US" dirty="0"/>
              <a:t>—break down individual customer service </a:t>
            </a:r>
            <a:r>
              <a:rPr lang="en-US" dirty="0" err="1"/>
              <a:t>touchpoints</a:t>
            </a:r>
            <a:r>
              <a:rPr lang="en-US" dirty="0"/>
              <a:t>.</a:t>
            </a:r>
          </a:p>
          <a:p>
            <a:r>
              <a:rPr lang="en-US" b="1" dirty="0"/>
              <a:t>Calculated Helper Columns:</a:t>
            </a:r>
            <a:r>
              <a:rPr lang="en-US" dirty="0"/>
              <a:t> Additional columns include our custom </a:t>
            </a:r>
            <a:r>
              <a:rPr lang="en-US" b="1" dirty="0"/>
              <a:t>Grade</a:t>
            </a:r>
            <a:r>
              <a:rPr lang="en-US" dirty="0"/>
              <a:t> classification (High, Average, Low, Bottom), allowing analysts to pivot and visualize performance distributions cleanly.</a:t>
            </a:r>
          </a:p>
          <a:p>
            <a:pPr marL="0" indent="0">
              <a:buNone/>
            </a:pPr>
            <a:endParaRPr lang="en-US" dirty="0"/>
          </a:p>
        </p:txBody>
      </p:sp>
      <p:sp>
        <p:nvSpPr>
          <p:cNvPr id="2" name="Title 1"/>
          <p:cNvSpPr>
            <a:spLocks noGrp="1"/>
          </p:cNvSpPr>
          <p:nvPr>
            <p:ph type="title"/>
          </p:nvPr>
        </p:nvSpPr>
        <p:spPr/>
        <p:txBody>
          <a:bodyPr/>
          <a:lstStyle/>
          <a:p>
            <a:r>
              <a:rPr lang="en-US" dirty="0"/>
              <a:t>Data Overview </a:t>
            </a:r>
          </a:p>
        </p:txBody>
      </p:sp>
    </p:spTree>
    <p:extLst>
      <p:ext uri="{BB962C8B-B14F-4D97-AF65-F5344CB8AC3E}">
        <p14:creationId xmlns:p14="http://schemas.microsoft.com/office/powerpoint/2010/main" val="31534226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04220539"/>
              </p:ext>
            </p:extLst>
          </p:nvPr>
        </p:nvGraphicFramePr>
        <p:xfrm>
          <a:off x="381000" y="1719263"/>
          <a:ext cx="8407401" cy="3754120"/>
        </p:xfrm>
        <a:graphic>
          <a:graphicData uri="http://schemas.openxmlformats.org/drawingml/2006/table">
            <a:tbl>
              <a:tblPr firstRow="1" bandRow="1">
                <a:tableStyleId>{5940675A-B579-460E-94D1-54222C63F5DA}</a:tableStyleId>
              </a:tblPr>
              <a:tblGrid>
                <a:gridCol w="2802467">
                  <a:extLst>
                    <a:ext uri="{9D8B030D-6E8A-4147-A177-3AD203B41FA5}">
                      <a16:colId xmlns:a16="http://schemas.microsoft.com/office/drawing/2014/main" val="20000"/>
                    </a:ext>
                  </a:extLst>
                </a:gridCol>
                <a:gridCol w="2802467">
                  <a:extLst>
                    <a:ext uri="{9D8B030D-6E8A-4147-A177-3AD203B41FA5}">
                      <a16:colId xmlns:a16="http://schemas.microsoft.com/office/drawing/2014/main" val="20001"/>
                    </a:ext>
                  </a:extLst>
                </a:gridCol>
                <a:gridCol w="2802467">
                  <a:extLst>
                    <a:ext uri="{9D8B030D-6E8A-4147-A177-3AD203B41FA5}">
                      <a16:colId xmlns:a16="http://schemas.microsoft.com/office/drawing/2014/main" val="20002"/>
                    </a:ext>
                  </a:extLst>
                </a:gridCol>
              </a:tblGrid>
              <a:tr h="370840">
                <a:tc>
                  <a:txBody>
                    <a:bodyPr/>
                    <a:lstStyle/>
                    <a:p>
                      <a:r>
                        <a:rPr lang="en-US" dirty="0"/>
                        <a:t>Performance Tier</a:t>
                      </a:r>
                    </a:p>
                  </a:txBody>
                  <a:tcPr marL="93416" marR="93416"/>
                </a:tc>
                <a:tc>
                  <a:txBody>
                    <a:bodyPr/>
                    <a:lstStyle/>
                    <a:p>
                      <a:r>
                        <a:rPr lang="en-US" dirty="0"/>
                        <a:t>Score Range</a:t>
                      </a:r>
                    </a:p>
                  </a:txBody>
                  <a:tcPr marL="93416" marR="93416"/>
                </a:tc>
                <a:tc>
                  <a:txBody>
                    <a:bodyPr/>
                    <a:lstStyle/>
                    <a:p>
                      <a:r>
                        <a:rPr lang="en-US" dirty="0"/>
                        <a:t>Description / Status</a:t>
                      </a:r>
                    </a:p>
                  </a:txBody>
                  <a:tcPr marL="93416" marR="93416"/>
                </a:tc>
                <a:extLst>
                  <a:ext uri="{0D108BD9-81ED-4DB2-BD59-A6C34878D82A}">
                    <a16:rowId xmlns:a16="http://schemas.microsoft.com/office/drawing/2014/main" val="10000"/>
                  </a:ext>
                </a:extLst>
              </a:tr>
              <a:tr h="370840">
                <a:tc>
                  <a:txBody>
                    <a:bodyPr/>
                    <a:lstStyle/>
                    <a:p>
                      <a:r>
                        <a:rPr lang="en-US" dirty="0"/>
                        <a:t>High Performer</a:t>
                      </a:r>
                    </a:p>
                  </a:txBody>
                  <a:tcPr marL="93416" marR="93416"/>
                </a:tc>
                <a:tc>
                  <a:txBody>
                    <a:bodyPr/>
                    <a:lstStyle/>
                    <a:p>
                      <a:r>
                        <a:rPr lang="en-US" sz="1800" kern="1200" dirty="0">
                          <a:solidFill>
                            <a:schemeClr val="tx1"/>
                          </a:solidFill>
                          <a:effectLst/>
                          <a:latin typeface="+mn-lt"/>
                          <a:ea typeface="+mn-ea"/>
                          <a:cs typeface="+mn-cs"/>
                        </a:rPr>
                        <a:t>90%</a:t>
                      </a:r>
                      <a:r>
                        <a:rPr lang="en-US" dirty="0"/>
                        <a:t>to </a:t>
                      </a:r>
                      <a:r>
                        <a:rPr lang="en-US" sz="1800" kern="1200" dirty="0">
                          <a:solidFill>
                            <a:schemeClr val="tx1"/>
                          </a:solidFill>
                          <a:effectLst/>
                          <a:latin typeface="+mn-lt"/>
                          <a:ea typeface="+mn-ea"/>
                          <a:cs typeface="+mn-cs"/>
                        </a:rPr>
                        <a:t>100%</a:t>
                      </a:r>
                      <a:endParaRPr lang="en-US" dirty="0"/>
                    </a:p>
                  </a:txBody>
                  <a:tcPr marL="93416" marR="93416"/>
                </a:tc>
                <a:tc>
                  <a:txBody>
                    <a:bodyPr/>
                    <a:lstStyle/>
                    <a:p>
                      <a:r>
                        <a:rPr lang="en-US" dirty="0"/>
                        <a:t>Exceptional service, exceeding expectations</a:t>
                      </a:r>
                    </a:p>
                  </a:txBody>
                  <a:tcPr marL="93416" marR="93416"/>
                </a:tc>
                <a:extLst>
                  <a:ext uri="{0D108BD9-81ED-4DB2-BD59-A6C34878D82A}">
                    <a16:rowId xmlns:a16="http://schemas.microsoft.com/office/drawing/2014/main" val="10001"/>
                  </a:ext>
                </a:extLst>
              </a:tr>
              <a:tr h="370840">
                <a:tc>
                  <a:txBody>
                    <a:bodyPr/>
                    <a:lstStyle/>
                    <a:p>
                      <a:r>
                        <a:rPr lang="en-US" dirty="0"/>
                        <a:t>Average Performer</a:t>
                      </a:r>
                    </a:p>
                  </a:txBody>
                  <a:tcPr marL="93416" marR="93416"/>
                </a:tc>
                <a:tc>
                  <a:txBody>
                    <a:bodyPr/>
                    <a:lstStyle/>
                    <a:p>
                      <a:r>
                        <a:rPr lang="en-US" sz="1800" kern="1200" dirty="0">
                          <a:solidFill>
                            <a:schemeClr val="tx1"/>
                          </a:solidFill>
                          <a:effectLst/>
                          <a:latin typeface="+mn-lt"/>
                          <a:ea typeface="+mn-ea"/>
                          <a:cs typeface="+mn-cs"/>
                        </a:rPr>
                        <a:t>70%</a:t>
                      </a:r>
                      <a:r>
                        <a:rPr lang="en-US" dirty="0"/>
                        <a:t> to </a:t>
                      </a:r>
                      <a:r>
                        <a:rPr lang="en-US" sz="1800" kern="1200" dirty="0">
                          <a:solidFill>
                            <a:schemeClr val="tx1"/>
                          </a:solidFill>
                          <a:effectLst/>
                          <a:latin typeface="+mn-lt"/>
                          <a:ea typeface="+mn-ea"/>
                          <a:cs typeface="+mn-cs"/>
                        </a:rPr>
                        <a:t>89%</a:t>
                      </a:r>
                      <a:endParaRPr lang="en-US" dirty="0"/>
                    </a:p>
                  </a:txBody>
                  <a:tcPr marL="93416" marR="93416"/>
                </a:tc>
                <a:tc>
                  <a:txBody>
                    <a:bodyPr/>
                    <a:lstStyle/>
                    <a:p>
                      <a:r>
                        <a:rPr lang="en-US" sz="1800" kern="1200" dirty="0">
                          <a:solidFill>
                            <a:schemeClr val="tx1"/>
                          </a:solidFill>
                          <a:effectLst/>
                          <a:latin typeface="+mn-lt"/>
                          <a:ea typeface="+mn-ea"/>
                          <a:cs typeface="+mn-cs"/>
                        </a:rPr>
                        <a:t>Satisfactory service, meeting standard benchmarks</a:t>
                      </a:r>
                      <a:endParaRPr lang="en-US" dirty="0"/>
                    </a:p>
                  </a:txBody>
                  <a:tcPr marL="93416" marR="93416"/>
                </a:tc>
                <a:extLst>
                  <a:ext uri="{0D108BD9-81ED-4DB2-BD59-A6C34878D82A}">
                    <a16:rowId xmlns:a16="http://schemas.microsoft.com/office/drawing/2014/main" val="10002"/>
                  </a:ext>
                </a:extLst>
              </a:tr>
              <a:tr h="370840">
                <a:tc>
                  <a:txBody>
                    <a:bodyPr/>
                    <a:lstStyle/>
                    <a:p>
                      <a:r>
                        <a:rPr lang="en-US" dirty="0"/>
                        <a:t>Low Performer</a:t>
                      </a:r>
                    </a:p>
                  </a:txBody>
                  <a:tcPr marL="93416" marR="93416"/>
                </a:tc>
                <a:tc>
                  <a:txBody>
                    <a:bodyPr/>
                    <a:lstStyle/>
                    <a:p>
                      <a:r>
                        <a:rPr lang="en-US" sz="1800" kern="1200" dirty="0">
                          <a:solidFill>
                            <a:schemeClr val="tx1"/>
                          </a:solidFill>
                          <a:effectLst/>
                          <a:latin typeface="+mn-lt"/>
                          <a:ea typeface="+mn-ea"/>
                          <a:cs typeface="+mn-cs"/>
                        </a:rPr>
                        <a:t>50%</a:t>
                      </a:r>
                      <a:r>
                        <a:rPr lang="en-US" dirty="0"/>
                        <a:t>to </a:t>
                      </a:r>
                      <a:r>
                        <a:rPr lang="en-US" sz="1800" kern="1200" dirty="0">
                          <a:solidFill>
                            <a:schemeClr val="tx1"/>
                          </a:solidFill>
                          <a:effectLst/>
                          <a:latin typeface="+mn-lt"/>
                          <a:ea typeface="+mn-ea"/>
                          <a:cs typeface="+mn-cs"/>
                        </a:rPr>
                        <a:t>69%</a:t>
                      </a:r>
                      <a:endParaRPr lang="en-US" dirty="0"/>
                    </a:p>
                  </a:txBody>
                  <a:tcPr marL="93416" marR="93416"/>
                </a:tc>
                <a:tc>
                  <a:txBody>
                    <a:bodyPr/>
                    <a:lstStyle/>
                    <a:p>
                      <a:r>
                        <a:rPr lang="en-US" dirty="0"/>
                        <a:t>Below average service, requiring operational attention</a:t>
                      </a:r>
                    </a:p>
                  </a:txBody>
                  <a:tcPr marL="93416" marR="93416"/>
                </a:tc>
                <a:extLst>
                  <a:ext uri="{0D108BD9-81ED-4DB2-BD59-A6C34878D82A}">
                    <a16:rowId xmlns:a16="http://schemas.microsoft.com/office/drawing/2014/main" val="10003"/>
                  </a:ext>
                </a:extLst>
              </a:tr>
              <a:tr h="370840">
                <a:tc>
                  <a:txBody>
                    <a:bodyPr/>
                    <a:lstStyle/>
                    <a:p>
                      <a:r>
                        <a:rPr lang="en-US" dirty="0"/>
                        <a:t>Bottom Performer</a:t>
                      </a:r>
                    </a:p>
                  </a:txBody>
                  <a:tcPr marL="93416" marR="93416"/>
                </a:tc>
                <a:tc>
                  <a:txBody>
                    <a:bodyPr/>
                    <a:lstStyle/>
                    <a:p>
                      <a:r>
                        <a:rPr lang="en-US" sz="1800" kern="1200" dirty="0">
                          <a:solidFill>
                            <a:schemeClr val="tx1"/>
                          </a:solidFill>
                          <a:effectLst/>
                          <a:latin typeface="+mn-lt"/>
                          <a:ea typeface="+mn-ea"/>
                          <a:cs typeface="+mn-cs"/>
                        </a:rPr>
                        <a:t>0.00%</a:t>
                      </a:r>
                      <a:r>
                        <a:rPr lang="en-US" dirty="0"/>
                        <a:t>to </a:t>
                      </a:r>
                      <a:r>
                        <a:rPr lang="en-US" sz="1800" kern="1200" dirty="0">
                          <a:solidFill>
                            <a:schemeClr val="tx1"/>
                          </a:solidFill>
                          <a:effectLst/>
                          <a:latin typeface="+mn-lt"/>
                          <a:ea typeface="+mn-ea"/>
                          <a:cs typeface="+mn-cs"/>
                        </a:rPr>
                        <a:t>49%</a:t>
                      </a:r>
                      <a:endParaRPr lang="en-US" dirty="0"/>
                    </a:p>
                  </a:txBody>
                  <a:tcPr marL="93416" marR="93416"/>
                </a:tc>
                <a:tc>
                  <a:txBody>
                    <a:bodyPr/>
                    <a:lstStyle/>
                    <a:p>
                      <a:r>
                        <a:rPr lang="en-US" dirty="0"/>
                        <a:t>Critical failure points, needing immediate corrective action</a:t>
                      </a:r>
                    </a:p>
                  </a:txBody>
                  <a:tcPr marL="93416" marR="93416"/>
                </a:tc>
                <a:extLst>
                  <a:ext uri="{0D108BD9-81ED-4DB2-BD59-A6C34878D82A}">
                    <a16:rowId xmlns:a16="http://schemas.microsoft.com/office/drawing/2014/main" val="10004"/>
                  </a:ext>
                </a:extLst>
              </a:tr>
            </a:tbl>
          </a:graphicData>
        </a:graphic>
      </p:graphicFrame>
      <p:sp>
        <p:nvSpPr>
          <p:cNvPr id="2" name="Title 1"/>
          <p:cNvSpPr>
            <a:spLocks noGrp="1"/>
          </p:cNvSpPr>
          <p:nvPr>
            <p:ph type="title"/>
          </p:nvPr>
        </p:nvSpPr>
        <p:spPr/>
        <p:txBody>
          <a:bodyPr/>
          <a:lstStyle/>
          <a:p>
            <a:r>
              <a:rPr lang="en-US"/>
              <a:t>Performance Grading</a:t>
            </a:r>
            <a:endParaRPr lang="en-US" dirty="0"/>
          </a:p>
        </p:txBody>
      </p:sp>
    </p:spTree>
    <p:extLst>
      <p:ext uri="{BB962C8B-B14F-4D97-AF65-F5344CB8AC3E}">
        <p14:creationId xmlns:p14="http://schemas.microsoft.com/office/powerpoint/2010/main" val="8909322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lvl="1">
              <a:buFont typeface="Arial" pitchFamily="34" charset="0"/>
              <a:buChar char="•"/>
            </a:pPr>
            <a:r>
              <a:rPr lang="en-US" dirty="0">
                <a:effectLst/>
              </a:rPr>
              <a:t>We used Excel's logical </a:t>
            </a:r>
            <a:r>
              <a:rPr lang="en-US" b="1" dirty="0">
                <a:effectLst/>
              </a:rPr>
              <a:t>IFS</a:t>
            </a:r>
            <a:r>
              <a:rPr lang="en-US" dirty="0">
                <a:effectLst/>
              </a:rPr>
              <a:t> formula to evaluate each store's final percentage score automatically.</a:t>
            </a:r>
          </a:p>
          <a:p>
            <a:pPr marL="457200" lvl="1" indent="0">
              <a:buNone/>
            </a:pPr>
            <a:r>
              <a:rPr lang="en-US" dirty="0">
                <a:effectLst/>
              </a:rPr>
              <a:t>For example, if a mystery shopper evaluation scored an 85%, the formula checked the scale, recognized it fell between 70% and 89.99%, and neatly assigned it the </a:t>
            </a:r>
            <a:r>
              <a:rPr lang="en-US" b="1" dirty="0">
                <a:effectLst/>
              </a:rPr>
              <a:t>Average Performer</a:t>
            </a:r>
            <a:r>
              <a:rPr lang="en-US" dirty="0">
                <a:effectLst/>
              </a:rPr>
              <a:t> tag. If a store scored a 92%, it was instantly categorized as a </a:t>
            </a:r>
            <a:r>
              <a:rPr lang="en-US" b="1" dirty="0">
                <a:effectLst/>
              </a:rPr>
              <a:t>High Performer</a:t>
            </a:r>
            <a:r>
              <a:rPr lang="en-US" dirty="0">
                <a:effectLst/>
              </a:rPr>
              <a:t> to help us track top-tier locations. If a score 59 % they give </a:t>
            </a:r>
            <a:r>
              <a:rPr lang="en-US" b="1" dirty="0">
                <a:effectLst/>
              </a:rPr>
              <a:t>low performance.</a:t>
            </a:r>
          </a:p>
          <a:p>
            <a:endParaRPr lang="en-US" dirty="0"/>
          </a:p>
        </p:txBody>
      </p:sp>
      <p:sp>
        <p:nvSpPr>
          <p:cNvPr id="2" name="Title 1"/>
          <p:cNvSpPr>
            <a:spLocks noGrp="1"/>
          </p:cNvSpPr>
          <p:nvPr>
            <p:ph type="title"/>
          </p:nvPr>
        </p:nvSpPr>
        <p:spPr/>
        <p:txBody>
          <a:bodyPr>
            <a:normAutofit fontScale="90000"/>
          </a:bodyPr>
          <a:lstStyle/>
          <a:p>
            <a:br>
              <a:rPr lang="en-US" b="1" dirty="0"/>
            </a:br>
            <a:r>
              <a:rPr lang="en-US" b="1" dirty="0"/>
              <a:t>How Grades Were Assigned:</a:t>
            </a:r>
            <a:br>
              <a:rPr lang="en-US" dirty="0"/>
            </a:br>
            <a:endParaRPr lang="en-US" dirty="0"/>
          </a:p>
        </p:txBody>
      </p:sp>
    </p:spTree>
    <p:extLst>
      <p:ext uri="{BB962C8B-B14F-4D97-AF65-F5344CB8AC3E}">
        <p14:creationId xmlns:p14="http://schemas.microsoft.com/office/powerpoint/2010/main" val="27809957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r>
              <a:rPr lang="en-US" b="1" dirty="0"/>
              <a:t>Pivot Table Structure:</a:t>
            </a:r>
            <a:r>
              <a:rPr lang="en-US" dirty="0"/>
              <a:t> The pivot table aggregates store data by placing the Zone field in the rows and calculating the average of the </a:t>
            </a:r>
            <a:r>
              <a:rPr lang="en-US" dirty="0" err="1"/>
              <a:t>Evaluation_Score</a:t>
            </a:r>
            <a:r>
              <a:rPr lang="en-US" dirty="0"/>
              <a:t> in the values column.</a:t>
            </a:r>
          </a:p>
          <a:p>
            <a:endParaRPr lang="en-US" b="1" dirty="0"/>
          </a:p>
          <a:p>
            <a:r>
              <a:rPr lang="en-US" b="1" dirty="0"/>
              <a:t>Regional Score Hierarchy:</a:t>
            </a:r>
            <a:r>
              <a:rPr lang="en-US" dirty="0"/>
              <a:t> The East zone achieves the highest average evaluation score among all regions, establishing itself as the top performer.</a:t>
            </a:r>
          </a:p>
          <a:p>
            <a:endParaRPr lang="en-US" b="1" dirty="0"/>
          </a:p>
          <a:p>
            <a:r>
              <a:rPr lang="en-US" b="1" dirty="0"/>
              <a:t>Baseline Stability:</a:t>
            </a:r>
            <a:r>
              <a:rPr lang="en-US" dirty="0"/>
              <a:t> The remaining zones maintain relatively stable average scores that cluster closely together, indicating consistent baseline execution across most territories.</a:t>
            </a:r>
          </a:p>
          <a:p>
            <a:endParaRPr lang="en-US" b="1" dirty="0"/>
          </a:p>
          <a:p>
            <a:r>
              <a:rPr lang="en-US" b="1" dirty="0"/>
              <a:t>Averages vs. Distribution:</a:t>
            </a:r>
            <a:r>
              <a:rPr lang="en-US" dirty="0"/>
              <a:t> While overall regional averages appear balanced, combining this pivot view with tier distributions reveals that mean scores can mask significant internal gaps between high- and low-performing stores.</a:t>
            </a:r>
          </a:p>
          <a:p>
            <a:endParaRPr lang="en-US" dirty="0"/>
          </a:p>
        </p:txBody>
      </p:sp>
      <p:sp>
        <p:nvSpPr>
          <p:cNvPr id="2" name="Title 1"/>
          <p:cNvSpPr>
            <a:spLocks noGrp="1"/>
          </p:cNvSpPr>
          <p:nvPr>
            <p:ph type="title"/>
          </p:nvPr>
        </p:nvSpPr>
        <p:spPr/>
        <p:txBody>
          <a:bodyPr>
            <a:normAutofit fontScale="90000"/>
          </a:bodyPr>
          <a:lstStyle/>
          <a:p>
            <a:r>
              <a:rPr lang="en-US" dirty="0"/>
              <a:t>Key observations from the pivot table </a:t>
            </a:r>
          </a:p>
        </p:txBody>
      </p:sp>
    </p:spTree>
    <p:extLst>
      <p:ext uri="{BB962C8B-B14F-4D97-AF65-F5344CB8AC3E}">
        <p14:creationId xmlns:p14="http://schemas.microsoft.com/office/powerpoint/2010/main" val="18480749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Pivot table showing average </a:t>
            </a:r>
            <a:r>
              <a:rPr lang="en-US" dirty="0" err="1"/>
              <a:t>Evaluation_Score</a:t>
            </a:r>
            <a:r>
              <a:rPr lang="en-US" dirty="0"/>
              <a:t> by Zone</a:t>
            </a:r>
          </a:p>
          <a:p>
            <a:endParaRPr lang="en-US" dirty="0"/>
          </a:p>
        </p:txBody>
      </p:sp>
      <p:sp>
        <p:nvSpPr>
          <p:cNvPr id="2" name="Title 1"/>
          <p:cNvSpPr>
            <a:spLocks noGrp="1"/>
          </p:cNvSpPr>
          <p:nvPr>
            <p:ph type="title"/>
          </p:nvPr>
        </p:nvSpPr>
        <p:spPr/>
        <p:txBody>
          <a:bodyPr>
            <a:normAutofit/>
          </a:bodyPr>
          <a:lstStyle/>
          <a:p>
            <a:r>
              <a:rPr lang="en-US" dirty="0"/>
              <a:t>Pivot Table Analysis</a:t>
            </a: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2057400"/>
            <a:ext cx="3609975" cy="1628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447" y="3733800"/>
            <a:ext cx="5932414" cy="2971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758257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Steps to Find the Region with the Highest Percentage of High Performers </a:t>
            </a:r>
          </a:p>
          <a:p>
            <a:r>
              <a:rPr lang="en-US" dirty="0"/>
              <a:t>1. </a:t>
            </a:r>
            <a:r>
              <a:rPr lang="en-US" sz="2800" b="1" dirty="0"/>
              <a:t>Create a Pivot Table</a:t>
            </a:r>
            <a:r>
              <a:rPr lang="en-US" sz="2800" dirty="0"/>
              <a:t>: Show counts of each performance grade by Zone</a:t>
            </a:r>
            <a:r>
              <a:rPr lang="en-US" dirty="0"/>
              <a:t>. </a:t>
            </a:r>
          </a:p>
          <a:p>
            <a:r>
              <a:rPr lang="en-US" dirty="0"/>
              <a:t>2. </a:t>
            </a:r>
            <a:r>
              <a:rPr lang="en-US" sz="2800" b="1" dirty="0"/>
              <a:t>Calculate Percentage</a:t>
            </a:r>
            <a:r>
              <a:rPr lang="en-US" dirty="0"/>
              <a:t>: </a:t>
            </a:r>
            <a:r>
              <a:rPr lang="en-US" sz="2800" dirty="0"/>
              <a:t>For each zone, divide the number of High Performers by the total number of evaluations.</a:t>
            </a:r>
          </a:p>
          <a:p>
            <a:r>
              <a:rPr lang="en-US" dirty="0"/>
              <a:t> 3. </a:t>
            </a:r>
            <a:r>
              <a:rPr lang="en-US" sz="2800" b="1" dirty="0"/>
              <a:t>Identify Region</a:t>
            </a:r>
            <a:r>
              <a:rPr lang="en-US" sz="2800" dirty="0"/>
              <a:t>: Find the zone with the highest percentage of High Performers</a:t>
            </a:r>
            <a:r>
              <a:rPr lang="en-US" dirty="0"/>
              <a:t>.</a:t>
            </a:r>
          </a:p>
        </p:txBody>
      </p:sp>
      <p:sp>
        <p:nvSpPr>
          <p:cNvPr id="2" name="Title 1"/>
          <p:cNvSpPr>
            <a:spLocks noGrp="1"/>
          </p:cNvSpPr>
          <p:nvPr>
            <p:ph type="title"/>
          </p:nvPr>
        </p:nvSpPr>
        <p:spPr/>
        <p:txBody>
          <a:bodyPr>
            <a:normAutofit fontScale="90000"/>
          </a:bodyPr>
          <a:lstStyle/>
          <a:p>
            <a:r>
              <a:rPr lang="en-US" i="1" dirty="0"/>
              <a:t>Region with the highest percentage highlighted </a:t>
            </a:r>
          </a:p>
        </p:txBody>
      </p:sp>
    </p:spTree>
    <p:extLst>
      <p:ext uri="{BB962C8B-B14F-4D97-AF65-F5344CB8AC3E}">
        <p14:creationId xmlns:p14="http://schemas.microsoft.com/office/powerpoint/2010/main" val="8721586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endParaRPr lang="en-US" dirty="0"/>
          </a:p>
        </p:txBody>
      </p:sp>
      <p:sp>
        <p:nvSpPr>
          <p:cNvPr id="2" name="Title 1"/>
          <p:cNvSpPr>
            <a:spLocks noGrp="1"/>
          </p:cNvSpPr>
          <p:nvPr>
            <p:ph type="title"/>
          </p:nvPr>
        </p:nvSpPr>
        <p:spPr/>
        <p:txBody>
          <a:bodyPr/>
          <a:lstStyle/>
          <a:p>
            <a:r>
              <a:rPr lang="en-US" dirty="0"/>
              <a:t>High Performer Analysis </a:t>
            </a: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494" y="1828800"/>
            <a:ext cx="845820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494" y="3200400"/>
            <a:ext cx="30480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61945" y="3352800"/>
            <a:ext cx="4953000" cy="3209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367714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983163"/>
          </a:xfrm>
        </p:spPr>
        <p:txBody>
          <a:bodyPr/>
          <a:lstStyle/>
          <a:p>
            <a:r>
              <a:rPr lang="en-US" dirty="0"/>
              <a:t>Average Evaluation Scores by Zone</a:t>
            </a:r>
          </a:p>
          <a:p>
            <a:pPr marL="0" indent="0">
              <a:buNone/>
            </a:pPr>
            <a:endParaRPr lang="en-US" dirty="0"/>
          </a:p>
          <a:p>
            <a:pPr marL="0" indent="0">
              <a:buNone/>
            </a:pPr>
            <a:endParaRPr lang="en-US" dirty="0"/>
          </a:p>
          <a:p>
            <a:pPr marL="0" indent="0">
              <a:buNone/>
            </a:pPr>
            <a:endParaRPr lang="en-US" dirty="0"/>
          </a:p>
          <a:p>
            <a:endParaRPr lang="en-US" dirty="0"/>
          </a:p>
        </p:txBody>
      </p:sp>
      <p:sp>
        <p:nvSpPr>
          <p:cNvPr id="2" name="Title 1"/>
          <p:cNvSpPr>
            <a:spLocks noGrp="1"/>
          </p:cNvSpPr>
          <p:nvPr>
            <p:ph type="title"/>
          </p:nvPr>
        </p:nvSpPr>
        <p:spPr>
          <a:xfrm>
            <a:off x="533400" y="274638"/>
            <a:ext cx="8153400" cy="792162"/>
          </a:xfrm>
        </p:spPr>
        <p:txBody>
          <a:bodyPr>
            <a:normAutofit/>
          </a:bodyPr>
          <a:lstStyle/>
          <a:p>
            <a:r>
              <a:rPr lang="en-US" dirty="0"/>
              <a:t>Visualizations</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828800"/>
            <a:ext cx="3457575" cy="1428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3429000"/>
            <a:ext cx="6448425" cy="32361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226580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endParaRPr lang="en-US" dirty="0"/>
          </a:p>
          <a:p>
            <a:endParaRPr lang="en-US" dirty="0"/>
          </a:p>
        </p:txBody>
      </p:sp>
      <p:sp>
        <p:nvSpPr>
          <p:cNvPr id="2" name="Title 1"/>
          <p:cNvSpPr>
            <a:spLocks noGrp="1"/>
          </p:cNvSpPr>
          <p:nvPr>
            <p:ph type="title"/>
          </p:nvPr>
        </p:nvSpPr>
        <p:spPr/>
        <p:txBody>
          <a:bodyPr>
            <a:normAutofit fontScale="90000"/>
          </a:bodyPr>
          <a:lstStyle/>
          <a:p>
            <a:br>
              <a:rPr lang="en-US" dirty="0"/>
            </a:br>
            <a:r>
              <a:rPr lang="en-US" dirty="0"/>
              <a:t>Percentage of High Performers by Region</a:t>
            </a:r>
            <a:br>
              <a:rPr lang="en-US" dirty="0"/>
            </a:br>
            <a:endParaRPr 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828800"/>
            <a:ext cx="3552825" cy="1495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3581400"/>
            <a:ext cx="6943725" cy="27961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428019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dirty="0"/>
              <a:t>                        </a:t>
            </a:r>
          </a:p>
        </p:txBody>
      </p:sp>
      <p:sp>
        <p:nvSpPr>
          <p:cNvPr id="2" name="Title 1"/>
          <p:cNvSpPr>
            <a:spLocks noGrp="1"/>
          </p:cNvSpPr>
          <p:nvPr>
            <p:ph type="title"/>
          </p:nvPr>
        </p:nvSpPr>
        <p:spPr/>
        <p:txBody>
          <a:bodyPr>
            <a:normAutofit fontScale="90000"/>
          </a:bodyPr>
          <a:lstStyle/>
          <a:p>
            <a:r>
              <a:rPr lang="en-US" dirty="0"/>
              <a:t>Performance Trends Over Time</a:t>
            </a:r>
            <a:br>
              <a:rPr lang="en-US" dirty="0"/>
            </a:br>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828800"/>
            <a:ext cx="2219325" cy="3467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5600" y="1811371"/>
            <a:ext cx="5802113" cy="3467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594450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dirty="0"/>
          </a:p>
        </p:txBody>
      </p:sp>
      <p:sp>
        <p:nvSpPr>
          <p:cNvPr id="2" name="Title 1"/>
          <p:cNvSpPr>
            <a:spLocks noGrp="1"/>
          </p:cNvSpPr>
          <p:nvPr>
            <p:ph type="title"/>
          </p:nvPr>
        </p:nvSpPr>
        <p:spPr/>
        <p:txBody>
          <a:bodyPr>
            <a:normAutofit/>
          </a:bodyPr>
          <a:lstStyle/>
          <a:p>
            <a:r>
              <a:rPr lang="en-US" dirty="0"/>
              <a:t>Breakdown by Evaluation Criteria </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2133600"/>
            <a:ext cx="8890000" cy="213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594706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dirty="0"/>
          </a:p>
        </p:txBody>
      </p:sp>
      <p:sp>
        <p:nvSpPr>
          <p:cNvPr id="2" name="Title 1"/>
          <p:cNvSpPr>
            <a:spLocks noGrp="1"/>
          </p:cNvSpPr>
          <p:nvPr>
            <p:ph type="title"/>
          </p:nvPr>
        </p:nvSpPr>
        <p:spPr/>
        <p:txBody>
          <a:bodyPr>
            <a:normAutofit fontScale="90000"/>
          </a:bodyPr>
          <a:lstStyle/>
          <a:p>
            <a:r>
              <a:rPr lang="en-US" dirty="0"/>
              <a:t>High vs. Low Performers Comparison</a:t>
            </a: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2254" y="1676400"/>
            <a:ext cx="8448675" cy="1114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599" y="2971800"/>
            <a:ext cx="5419471" cy="343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702739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828800"/>
            <a:ext cx="8305800" cy="4297363"/>
          </a:xfrm>
        </p:spPr>
        <p:txBody>
          <a:bodyPr>
            <a:normAutofit fontScale="92500" lnSpcReduction="10000"/>
          </a:bodyPr>
          <a:lstStyle/>
          <a:p>
            <a:r>
              <a:rPr lang="en-US" sz="3000" b="1" dirty="0"/>
              <a:t>Regional Score Summary</a:t>
            </a:r>
          </a:p>
          <a:p>
            <a:pPr marL="0" indent="0">
              <a:buNone/>
            </a:pPr>
            <a:r>
              <a:rPr lang="en-US" sz="2800" dirty="0"/>
              <a:t>   The East zone emerges as the regional leader with the highest average evaluation scores and top proportion of high-performing stores, while other zones maintain stable baseline averages that occasionally mask internal performance gaps.</a:t>
            </a:r>
          </a:p>
          <a:p>
            <a:r>
              <a:rPr lang="en-US" sz="2600" b="1" dirty="0" err="1"/>
              <a:t>Emporal</a:t>
            </a:r>
            <a:r>
              <a:rPr lang="en-US" sz="2600" b="1" dirty="0"/>
              <a:t> Trends</a:t>
            </a:r>
          </a:p>
          <a:p>
            <a:pPr marL="0" indent="0">
              <a:buNone/>
            </a:pPr>
            <a:r>
              <a:rPr lang="en-US" b="1" dirty="0"/>
              <a:t>    </a:t>
            </a:r>
            <a:r>
              <a:rPr lang="en-US" sz="2800" dirty="0"/>
              <a:t>Time-series analysis via line graphs reveals how store evaluation scores fluctuate across the operational timeline, helping management pinpoint specific periods of consistency or decline</a:t>
            </a:r>
            <a:r>
              <a:rPr lang="en-US" dirty="0"/>
              <a:t>.</a:t>
            </a:r>
          </a:p>
        </p:txBody>
      </p:sp>
    </p:spTree>
    <p:extLst>
      <p:ext uri="{BB962C8B-B14F-4D97-AF65-F5344CB8AC3E}">
        <p14:creationId xmlns:p14="http://schemas.microsoft.com/office/powerpoint/2010/main" val="14273041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600200"/>
            <a:ext cx="8534400" cy="4495800"/>
          </a:xfrm>
        </p:spPr>
        <p:txBody>
          <a:bodyPr/>
          <a:lstStyle/>
          <a:p>
            <a:r>
              <a:rPr lang="en-US" sz="3200" b="1" dirty="0">
                <a:effectLst/>
              </a:rPr>
              <a:t>Performance Distribution Analysis</a:t>
            </a:r>
            <a:endParaRPr lang="en-US" sz="3200" dirty="0">
              <a:effectLst/>
            </a:endParaRPr>
          </a:p>
          <a:p>
            <a:pPr marL="0" indent="0">
              <a:buNone/>
            </a:pPr>
            <a:r>
              <a:rPr lang="en-US" sz="2800" dirty="0">
                <a:effectLst/>
              </a:rPr>
              <a:t>Grading distribution shows that stores cluster across different tiers (High, Average, Low, and Bottom), highlighting where high performers excel and where vulnerable locations require immediate corrective action.</a:t>
            </a:r>
          </a:p>
          <a:p>
            <a:endParaRPr lang="en-US" sz="2800" dirty="0"/>
          </a:p>
        </p:txBody>
      </p:sp>
    </p:spTree>
    <p:extLst>
      <p:ext uri="{BB962C8B-B14F-4D97-AF65-F5344CB8AC3E}">
        <p14:creationId xmlns:p14="http://schemas.microsoft.com/office/powerpoint/2010/main" val="1236881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752600"/>
            <a:ext cx="8382000" cy="4724400"/>
          </a:xfrm>
        </p:spPr>
        <p:txBody>
          <a:bodyPr>
            <a:normAutofit fontScale="77500" lnSpcReduction="20000"/>
          </a:bodyPr>
          <a:lstStyle/>
          <a:p>
            <a:pPr marL="0" indent="0">
              <a:buNone/>
            </a:pPr>
            <a:r>
              <a:rPr lang="en-US" b="1" dirty="0"/>
              <a:t> Suggested actions based on insights</a:t>
            </a:r>
          </a:p>
          <a:p>
            <a:pPr marL="0" indent="0">
              <a:buNone/>
            </a:pPr>
            <a:endParaRPr lang="en-US" b="1" dirty="0"/>
          </a:p>
          <a:p>
            <a:r>
              <a:rPr lang="en-US" b="1" dirty="0"/>
              <a:t>Targeted Staff Training:</a:t>
            </a:r>
            <a:r>
              <a:rPr lang="en-US" dirty="0"/>
              <a:t> Implement intensive coaching programs focusing on critical </a:t>
            </a:r>
            <a:r>
              <a:rPr lang="en-US" dirty="0" err="1"/>
              <a:t>touchpoints</a:t>
            </a:r>
            <a:r>
              <a:rPr lang="en-US" dirty="0"/>
              <a:t> like discovery, recommendations, and upsell techniques, particularly for stores falling into the low and bottom performance tiers.</a:t>
            </a:r>
          </a:p>
          <a:p>
            <a:endParaRPr lang="en-US" dirty="0"/>
          </a:p>
          <a:p>
            <a:r>
              <a:rPr lang="en-US" b="1" dirty="0"/>
              <a:t>Replicate East Zone Best Practices:</a:t>
            </a:r>
            <a:r>
              <a:rPr lang="en-US" dirty="0"/>
              <a:t> Study the operational habits of top-performing locations in the leading East zone and share their successful customer service strategies with lagging regional branches.</a:t>
            </a:r>
          </a:p>
          <a:p>
            <a:pPr marL="0" indent="0">
              <a:buNone/>
            </a:pPr>
            <a:r>
              <a:rPr lang="en-US" b="1" dirty="0"/>
              <a:t>   </a:t>
            </a:r>
          </a:p>
          <a:p>
            <a:pPr marL="0" indent="0">
              <a:buNone/>
            </a:pPr>
            <a:r>
              <a:rPr lang="en-US" b="1" dirty="0"/>
              <a:t> Focus areas for improvement</a:t>
            </a:r>
          </a:p>
          <a:p>
            <a:pPr algn="ctr"/>
            <a:endParaRPr lang="en-US" b="1" dirty="0"/>
          </a:p>
          <a:p>
            <a:pPr algn="ctr"/>
            <a:r>
              <a:rPr lang="en-US" b="1" dirty="0"/>
              <a:t>     Establish Continuous Monitoring:</a:t>
            </a:r>
            <a:r>
              <a:rPr lang="en-US" dirty="0"/>
              <a:t> Use time-series trend lines and regular        mystery shopping audits to track performance improvements month-over</a:t>
            </a:r>
          </a:p>
          <a:p>
            <a:pPr marL="0" indent="0" algn="ctr">
              <a:buNone/>
            </a:pPr>
            <a:r>
              <a:rPr lang="en-US" dirty="0"/>
              <a:t>month and catch dips in store execution early.</a:t>
            </a:r>
          </a:p>
          <a:p>
            <a:endParaRPr lang="en-US" dirty="0"/>
          </a:p>
          <a:p>
            <a:r>
              <a:rPr lang="en-US" b="1" dirty="0"/>
              <a:t>Focus on Closing Gaps:</a:t>
            </a:r>
            <a:r>
              <a:rPr lang="en-US" dirty="0"/>
              <a:t> Direct management oversight toward locations with high performance variance, addressing internal gaps between top-tier scores and failing metrics to stabilize overall retail standards.</a:t>
            </a:r>
          </a:p>
          <a:p>
            <a:endParaRPr lang="en-US" dirty="0"/>
          </a:p>
        </p:txBody>
      </p:sp>
      <p:sp>
        <p:nvSpPr>
          <p:cNvPr id="4" name="Rectangle 3"/>
          <p:cNvSpPr/>
          <p:nvPr/>
        </p:nvSpPr>
        <p:spPr>
          <a:xfrm>
            <a:off x="2667000" y="457200"/>
            <a:ext cx="3767088" cy="646331"/>
          </a:xfrm>
          <a:prstGeom prst="rect">
            <a:avLst/>
          </a:prstGeom>
        </p:spPr>
        <p:txBody>
          <a:bodyPr wrap="square">
            <a:spAutoFit/>
          </a:bodyPr>
          <a:lstStyle/>
          <a:p>
            <a:r>
              <a:rPr lang="en-US" sz="3600" b="1" dirty="0"/>
              <a:t>Recommendation</a:t>
            </a:r>
          </a:p>
        </p:txBody>
      </p:sp>
    </p:spTree>
    <p:extLst>
      <p:ext uri="{BB962C8B-B14F-4D97-AF65-F5344CB8AC3E}">
        <p14:creationId xmlns:p14="http://schemas.microsoft.com/office/powerpoint/2010/main" val="37039373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Based on the analysis, the management team will gain insights into the effectiveness of Style Advisors across different regions. The visualizations will provide a clear picture of performance trends, high-performing regions, and areas requiring attention. Recommendations can be made to enhance overall performance based on the identified strengths and weaknesses.</a:t>
            </a:r>
          </a:p>
        </p:txBody>
      </p:sp>
      <p:sp>
        <p:nvSpPr>
          <p:cNvPr id="2" name="Title 1"/>
          <p:cNvSpPr>
            <a:spLocks noGrp="1"/>
          </p:cNvSpPr>
          <p:nvPr>
            <p:ph type="title"/>
          </p:nvPr>
        </p:nvSpPr>
        <p:spPr/>
        <p:txBody>
          <a:bodyPr/>
          <a:lstStyle/>
          <a:p>
            <a:r>
              <a:rPr lang="en-US" dirty="0"/>
              <a:t>Conclusion</a:t>
            </a:r>
          </a:p>
        </p:txBody>
      </p:sp>
    </p:spTree>
    <p:extLst>
      <p:ext uri="{BB962C8B-B14F-4D97-AF65-F5344CB8AC3E}">
        <p14:creationId xmlns:p14="http://schemas.microsoft.com/office/powerpoint/2010/main" val="193343330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Grid">
  <a:themeElements>
    <a:clrScheme name="Grid">
      <a:dk1>
        <a:sysClr val="windowText" lastClr="000000"/>
      </a:dk1>
      <a:lt1>
        <a:sysClr val="window" lastClr="FFFFFF"/>
      </a:lt1>
      <a:dk2>
        <a:srgbClr val="534949"/>
      </a:dk2>
      <a:lt2>
        <a:srgbClr val="CCD1B9"/>
      </a:lt2>
      <a:accent1>
        <a:srgbClr val="C66951"/>
      </a:accent1>
      <a:accent2>
        <a:srgbClr val="BF974D"/>
      </a:accent2>
      <a:accent3>
        <a:srgbClr val="928B70"/>
      </a:accent3>
      <a:accent4>
        <a:srgbClr val="87706B"/>
      </a:accent4>
      <a:accent5>
        <a:srgbClr val="94734E"/>
      </a:accent5>
      <a:accent6>
        <a:srgbClr val="6F777D"/>
      </a:accent6>
      <a:hlink>
        <a:srgbClr val="CC9900"/>
      </a:hlink>
      <a:folHlink>
        <a:srgbClr val="C0C0C0"/>
      </a:folHlink>
    </a:clrScheme>
    <a:fontScheme name="Grid">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ajorFont>
      <a:min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inorFont>
    </a:fontScheme>
    <a:fmtScheme name="Grid">
      <a:fillStyleLst>
        <a:solidFill>
          <a:schemeClr val="phClr"/>
        </a:solidFill>
        <a:solidFill>
          <a:schemeClr val="phClr">
            <a:tint val="50000"/>
          </a:schemeClr>
        </a:solidFill>
        <a:gradFill rotWithShape="1">
          <a:gsLst>
            <a:gs pos="0">
              <a:schemeClr val="phClr"/>
            </a:gs>
            <a:gs pos="90000">
              <a:schemeClr val="phClr">
                <a:shade val="100000"/>
              </a:schemeClr>
            </a:gs>
            <a:gs pos="100000">
              <a:schemeClr val="phClr">
                <a:shade val="85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effectStyle>
        <a:effectStyle>
          <a:effectLst>
            <a:outerShdw blurRad="31750" dist="25400" dir="5400000" rotWithShape="0">
              <a:srgbClr val="000000">
                <a:alpha val="50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30000"/>
              </a:schemeClr>
            </a:contourClr>
          </a:sp3d>
        </a:effectStyle>
      </a:effectStyleLst>
      <a:bgFillStyleLst>
        <a:solidFill>
          <a:schemeClr val="phClr"/>
        </a:solidFill>
        <a:solidFill>
          <a:schemeClr val="phClr">
            <a:tint val="90000"/>
            <a:shade val="93000"/>
            <a:satMod val="150000"/>
          </a:schemeClr>
        </a:solidFill>
        <a:blipFill rotWithShape="1">
          <a:blip xmlns:r="http://schemas.openxmlformats.org/officeDocument/2006/relationships" r:embed="rId1">
            <a:duotone>
              <a:schemeClr val="phClr">
                <a:tint val="95000"/>
              </a:schemeClr>
              <a:schemeClr val="phClr">
                <a:shade val="93000"/>
                <a:satMod val="11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Grid</Template>
  <TotalTime>427</TotalTime>
  <Words>1002</Words>
  <Application>Microsoft Office PowerPoint</Application>
  <PresentationFormat>On-screen Show (4:3)</PresentationFormat>
  <Paragraphs>81</Paragraphs>
  <Slides>19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Bahnschrift SemiBold SemiConden</vt:lpstr>
      <vt:lpstr>Calibri</vt:lpstr>
      <vt:lpstr>Franklin Gothic Medium</vt:lpstr>
      <vt:lpstr>Wingdings</vt:lpstr>
      <vt:lpstr>Wingdings 2</vt:lpstr>
      <vt:lpstr>Grid</vt:lpstr>
      <vt:lpstr>Bare international analysis</vt:lpstr>
      <vt:lpstr>Overview of the Project:</vt:lpstr>
      <vt:lpstr>Objectives of the Analysis: </vt:lpstr>
      <vt:lpstr>Data Overview </vt:lpstr>
      <vt:lpstr>Performance Grading</vt:lpstr>
      <vt:lpstr> How Grades Were Assigned: </vt:lpstr>
      <vt:lpstr>Key observations from the pivot table </vt:lpstr>
      <vt:lpstr>Pivot Table Analysis</vt:lpstr>
      <vt:lpstr>Region with the highest percentage highlighted </vt:lpstr>
      <vt:lpstr>High Performer Analysis </vt:lpstr>
      <vt:lpstr>Visualizations</vt:lpstr>
      <vt:lpstr> Percentage of High Performers by Region </vt:lpstr>
      <vt:lpstr>Performance Trends Over Time </vt:lpstr>
      <vt:lpstr>Breakdown by Evaluation Criteria </vt:lpstr>
      <vt:lpstr>High vs. Low Performers Comparison</vt:lpstr>
      <vt:lpstr>PowerPoint Presentation</vt:lpstr>
      <vt:lpstr>PowerPoint Presentation</vt:lpstr>
      <vt:lpstr>PowerPoint Presentation</vt:lpstr>
      <vt:lpstr>Conclusion</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Evaluation of Style Advisor Performance</dc:title>
  <dc:creator>LENOVO</dc:creator>
  <cp:lastModifiedBy>LENOVO</cp:lastModifiedBy>
  <cp:revision>16</cp:revision>
  <dcterms:created xsi:type="dcterms:W3CDTF">2026-09-03T09:57:31Z</dcterms:created>
  <dcterms:modified xsi:type="dcterms:W3CDTF">2026-09-11T10:54:01Z</dcterms:modified>
</cp:coreProperties>
</file>