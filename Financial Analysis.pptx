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6" r:id="rId11"/>
    <p:sldId id="263" r:id="rId12"/>
    <p:sldId id="264" r:id="rId13"/>
    <p:sldId id="271" r:id="rId14"/>
    <p:sldId id="265" r:id="rId15"/>
    <p:sldId id="269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9C3201-5220-43DC-BE61-561036BF430E}" v="58" dt="2026-09-11T10:56:51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24" autoAdjust="0"/>
  </p:normalViewPr>
  <p:slideViewPr>
    <p:cSldViewPr snapToGrid="0">
      <p:cViewPr varScale="1">
        <p:scale>
          <a:sx n="56" d="100"/>
          <a:sy n="56" d="100"/>
        </p:scale>
        <p:origin x="1068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9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6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2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99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3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94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1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2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9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36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80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67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96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83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56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149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40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90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534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023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52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753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984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7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782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3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9EB5253A-E2E4-4D88-9F04-D10910BF5683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4CBEED9-9209-4353-B421-D8710CB8F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1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8D05-D0C6-367D-D79A-CC57665A6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Financial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D408D-D8C0-8230-6FB5-47BBE95ED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503420"/>
            <a:ext cx="3084441" cy="1331611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Do not save what is left after spending; spend what is left after saving.</a:t>
            </a:r>
          </a:p>
        </p:txBody>
      </p:sp>
    </p:spTree>
    <p:extLst>
      <p:ext uri="{BB962C8B-B14F-4D97-AF65-F5344CB8AC3E}">
        <p14:creationId xmlns:p14="http://schemas.microsoft.com/office/powerpoint/2010/main" val="415833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E9F520-DC23-20DF-D4BA-8D3BFAB58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317500"/>
            <a:ext cx="11329988" cy="5892800"/>
          </a:xfrm>
        </p:spPr>
        <p:txBody>
          <a:bodyPr>
            <a:normAutofit fontScale="92500" lnSpcReduction="10000"/>
          </a:bodyPr>
          <a:lstStyle/>
          <a:p>
            <a:r>
              <a:rPr lang="en-US" sz="3000" b="1" dirty="0"/>
              <a:t>INDEX</a:t>
            </a:r>
          </a:p>
          <a:p>
            <a:r>
              <a:rPr lang="en-US" sz="1600" dirty="0"/>
              <a:t>1. Introduction</a:t>
            </a:r>
          </a:p>
          <a:p>
            <a:pPr marL="0" indent="0">
              <a:buNone/>
            </a:pPr>
            <a:r>
              <a:rPr lang="en-US" sz="1600" dirty="0"/>
              <a:t> 2. Project Scope and Objectives</a:t>
            </a:r>
          </a:p>
          <a:p>
            <a:pPr marL="0" indent="0">
              <a:buNone/>
            </a:pPr>
            <a:r>
              <a:rPr lang="en-US" sz="1600" dirty="0"/>
              <a:t> 3. Key Financial Concepts and Functions </a:t>
            </a:r>
          </a:p>
          <a:p>
            <a:pPr marL="0" indent="0">
              <a:buNone/>
            </a:pPr>
            <a:r>
              <a:rPr lang="en-US" sz="1600" dirty="0"/>
              <a:t>o Annuity o Present Value (PV) </a:t>
            </a:r>
          </a:p>
          <a:p>
            <a:pPr marL="0" indent="0">
              <a:buNone/>
            </a:pPr>
            <a:r>
              <a:rPr lang="en-US" sz="1600" dirty="0"/>
              <a:t>o Net Present Value (NPV) </a:t>
            </a:r>
          </a:p>
          <a:p>
            <a:pPr marL="0" indent="0">
              <a:buNone/>
            </a:pPr>
            <a:r>
              <a:rPr lang="en-US" sz="1600" dirty="0"/>
              <a:t>o XNPV </a:t>
            </a:r>
          </a:p>
          <a:p>
            <a:pPr marL="0" indent="0">
              <a:buNone/>
            </a:pPr>
            <a:r>
              <a:rPr lang="en-US" sz="1600" dirty="0"/>
              <a:t>o EMI</a:t>
            </a:r>
          </a:p>
          <a:p>
            <a:pPr marL="0" indent="0">
              <a:buNone/>
            </a:pPr>
            <a:r>
              <a:rPr lang="en-US" sz="1600" dirty="0"/>
              <a:t> o Interest and Principal Components of EMI</a:t>
            </a:r>
          </a:p>
          <a:p>
            <a:pPr marL="0" indent="0">
              <a:buNone/>
            </a:pPr>
            <a:r>
              <a:rPr lang="en-US" sz="1600" dirty="0"/>
              <a:t> o Calculating Interest Rate </a:t>
            </a:r>
          </a:p>
          <a:p>
            <a:pPr marL="0" indent="0">
              <a:buNone/>
            </a:pPr>
            <a:r>
              <a:rPr lang="en-US" sz="1600" dirty="0"/>
              <a:t>o Calculating Loan Term</a:t>
            </a:r>
          </a:p>
          <a:p>
            <a:pPr marL="0" indent="0">
              <a:buNone/>
            </a:pPr>
            <a:r>
              <a:rPr lang="en-US" sz="1600" dirty="0"/>
              <a:t> o Internal Rate of Return (IRR)</a:t>
            </a:r>
          </a:p>
          <a:p>
            <a:pPr marL="0" indent="0">
              <a:buNone/>
            </a:pPr>
            <a:r>
              <a:rPr lang="en-US" sz="1600" dirty="0"/>
              <a:t> o XIRR</a:t>
            </a:r>
          </a:p>
          <a:p>
            <a:pPr marL="0" indent="0">
              <a:buNone/>
            </a:pPr>
            <a:r>
              <a:rPr lang="en-US" sz="1600" dirty="0"/>
              <a:t> o Modified IRR (MIRR) </a:t>
            </a:r>
          </a:p>
          <a:p>
            <a:pPr marL="0" indent="0">
              <a:buNone/>
            </a:pPr>
            <a:r>
              <a:rPr lang="en-US" sz="1600" dirty="0"/>
              <a:t>4. Summary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3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13BD-316A-C06B-DAED-0F1D61D7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620"/>
            <a:ext cx="10515600" cy="797206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D0E6D-02C2-0AE7-F19E-73F39EB0C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928370"/>
            <a:ext cx="10515600" cy="545211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purpose of this project is to provide fundamental insights into how financial functions and terminologies work in Excel. </a:t>
            </a:r>
          </a:p>
          <a:p>
            <a:r>
              <a:rPr lang="en-US" sz="2400" dirty="0"/>
              <a:t>it is essential to thoroughly understand the such as PV, NPV, XNPV, IRR, MIRR, and XIRR. </a:t>
            </a:r>
          </a:p>
          <a:p>
            <a:r>
              <a:rPr lang="en-US" sz="2400" dirty="0"/>
              <a:t>This project involves analyzing a prepared dataset and applying these financial functions to derive meaningful financial insights</a:t>
            </a:r>
          </a:p>
          <a:p>
            <a:r>
              <a:rPr lang="en-US" sz="2400" dirty="0"/>
              <a:t>Financial analysis helps us understand what money is worth and how to use it effectively.</a:t>
            </a:r>
          </a:p>
          <a:p>
            <a:r>
              <a:rPr lang="en-US" sz="2400" dirty="0"/>
              <a:t>Excel provides financial functions that help answer practical questions:</a:t>
            </a:r>
          </a:p>
          <a:p>
            <a:pPr lvl="0"/>
            <a:r>
              <a:rPr lang="en-US" sz="2400" dirty="0"/>
              <a:t>Payment decisions: Is it better to pay now or in installments?</a:t>
            </a:r>
          </a:p>
          <a:p>
            <a:pPr lvl="0"/>
            <a:r>
              <a:rPr lang="en-US" sz="2400" dirty="0"/>
              <a:t>Loan planning: How much must be paid each month?</a:t>
            </a:r>
          </a:p>
          <a:p>
            <a:pPr lvl="0"/>
            <a:r>
              <a:rPr lang="en-US" sz="2400" dirty="0"/>
              <a:t>Investment evaluation: Do future returns justify the initial cost?</a:t>
            </a:r>
          </a:p>
          <a:p>
            <a:pPr lvl="0"/>
            <a:r>
              <a:rPr lang="en-US" sz="2400" dirty="0"/>
              <a:t>Cash-flow timing: How does the timing of payments affect value?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436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296A-4768-D25B-7801-D4624B88E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65125"/>
            <a:ext cx="10795000" cy="1146175"/>
          </a:xfrm>
        </p:spPr>
        <p:txBody>
          <a:bodyPr>
            <a:normAutofit/>
          </a:bodyPr>
          <a:lstStyle/>
          <a:p>
            <a:r>
              <a:rPr lang="en-US" dirty="0"/>
              <a:t>Objectives and Scope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0507-CD89-A87F-1BA8-C66B6418F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1"/>
            <a:ext cx="10515600" cy="52578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project applies Excel functions to everyday financial decisions.</a:t>
            </a:r>
          </a:p>
          <a:p>
            <a:pPr lvl="0"/>
            <a:r>
              <a:rPr lang="en-US" sz="2400" dirty="0"/>
              <a:t>Compare payment options using present value.</a:t>
            </a:r>
          </a:p>
          <a:p>
            <a:pPr lvl="0"/>
            <a:r>
              <a:rPr lang="en-US" sz="2400" dirty="0"/>
              <a:t>Analyze loans using EMI, interest, principal, and repayment periods.</a:t>
            </a:r>
          </a:p>
          <a:p>
            <a:pPr lvl="0"/>
            <a:r>
              <a:rPr lang="en-US" sz="2400" dirty="0"/>
              <a:t>Evaluate investments using NPV, IRR, and MIRR.</a:t>
            </a:r>
          </a:p>
          <a:p>
            <a:pPr lvl="0"/>
            <a:r>
              <a:rPr lang="en-US" sz="2400" dirty="0"/>
              <a:t>Handle irregular cash flows using XNPV and XIRR.</a:t>
            </a:r>
          </a:p>
          <a:p>
            <a:pPr lvl="0"/>
            <a:r>
              <a:rPr lang="en-US" sz="2400" dirty="0"/>
              <a:t>Summarize findings with clear assumptions and practical recommendations.</a:t>
            </a:r>
          </a:p>
          <a:p>
            <a:r>
              <a:rPr lang="en-US" sz="4800" b="1" dirty="0"/>
              <a:t>Scope</a:t>
            </a:r>
          </a:p>
          <a:p>
            <a:r>
              <a:rPr lang="en-US" sz="2400" dirty="0"/>
              <a:t>Worked examples from the provided documentation. Investment comparisons requiring missing cash-flow tables remain illustrative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330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EEDA-7F3E-99C7-9B86-3C08B48C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C1886-38ED-0CE4-D4E5-A66F97698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/>
              <a:t>Organize the data: Enter loan amounts, rates, payments, cash flows, and dates.</a:t>
            </a:r>
          </a:p>
          <a:p>
            <a:pPr lvl="0"/>
            <a:r>
              <a:rPr lang="en-US" sz="3200" dirty="0"/>
              <a:t>Standardize time periods: Match monthly payments with monthly rates.</a:t>
            </a:r>
          </a:p>
          <a:p>
            <a:pPr lvl="0"/>
            <a:r>
              <a:rPr lang="en-US" sz="3200" dirty="0"/>
              <a:t>Select the function: Choose the formula that fits the financial question.</a:t>
            </a:r>
          </a:p>
          <a:p>
            <a:pPr lvl="0"/>
            <a:r>
              <a:rPr lang="en-US" sz="3200" dirty="0"/>
              <a:t>Validate the output: Check signs, payment timing, and closing balances.</a:t>
            </a:r>
          </a:p>
          <a:p>
            <a:pPr lvl="0"/>
            <a:r>
              <a:rPr lang="en-US" sz="3200" dirty="0"/>
              <a:t>Interpret the result: Explain what it means for the decision.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8503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FD8E7-7E10-C8E7-3173-8596EE08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0"/>
            <a:ext cx="10936423" cy="6261100"/>
          </a:xfrm>
        </p:spPr>
        <p:txBody>
          <a:bodyPr>
            <a:normAutofit/>
          </a:bodyPr>
          <a:lstStyle/>
          <a:p>
            <a:r>
              <a:rPr lang="en-US" sz="2400" dirty="0"/>
              <a:t>Cash-flow timing and sign conventions are essential.</a:t>
            </a:r>
          </a:p>
          <a:p>
            <a:r>
              <a:rPr lang="en-US" sz="2800" b="1" dirty="0"/>
              <a:t>Annuity </a:t>
            </a:r>
          </a:p>
          <a:p>
            <a:pPr marL="0" indent="0">
              <a:buNone/>
            </a:pPr>
            <a:r>
              <a:rPr lang="en-US" sz="4000" dirty="0"/>
              <a:t>   </a:t>
            </a:r>
            <a:r>
              <a:rPr lang="en-US" sz="2400" dirty="0"/>
              <a:t>An annuity is a series of constant cash payments made over a continuous period, such as retire   savings, insurance payments, or mortgage payments. In annuity functions:</a:t>
            </a:r>
          </a:p>
          <a:p>
            <a:pPr marL="0" indent="0">
              <a:buNone/>
            </a:pPr>
            <a:r>
              <a:rPr lang="en-US" sz="2400" dirty="0"/>
              <a:t>                       A positive number represents cash received. </a:t>
            </a:r>
          </a:p>
          <a:p>
            <a:pPr marL="0" indent="0">
              <a:buNone/>
            </a:pPr>
            <a:r>
              <a:rPr lang="en-US" sz="2400" dirty="0"/>
              <a:t>                            A negative number represents cash paid out. 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E1D93-4E05-C36A-27A0-0876A633F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537" y="3810000"/>
            <a:ext cx="91535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8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2AF8F-6287-BA49-9B89-40FC40B2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292100"/>
            <a:ext cx="10668000" cy="5702300"/>
          </a:xfrm>
        </p:spPr>
        <p:txBody>
          <a:bodyPr>
            <a:normAutofit/>
          </a:bodyPr>
          <a:lstStyle/>
          <a:p>
            <a:r>
              <a:rPr lang="en-US" sz="2400" b="1" dirty="0"/>
              <a:t>Present Value (PV)</a:t>
            </a:r>
          </a:p>
          <a:p>
            <a:pPr marL="0" indent="0">
              <a:buNone/>
            </a:pPr>
            <a:r>
              <a:rPr lang="en-US" sz="2400" dirty="0"/>
              <a:t> The present value is the total amount that a series of future payments is worth now.</a:t>
            </a:r>
          </a:p>
          <a:p>
            <a:pPr marL="0" indent="0">
              <a:buNone/>
            </a:pPr>
            <a:r>
              <a:rPr lang="en-US" sz="2400" dirty="0"/>
              <a:t> Excel Function: PV =PV(rate, </a:t>
            </a:r>
            <a:r>
              <a:rPr lang="en-US" sz="2400" dirty="0" err="1"/>
              <a:t>nper</a:t>
            </a:r>
            <a:r>
              <a:rPr lang="en-US" sz="2400" dirty="0"/>
              <a:t>, </a:t>
            </a:r>
            <a:r>
              <a:rPr lang="en-US" sz="2400" dirty="0" err="1"/>
              <a:t>pmt</a:t>
            </a:r>
            <a:r>
              <a:rPr lang="en-US" sz="2400" dirty="0"/>
              <a:t>, [</a:t>
            </a:r>
            <a:r>
              <a:rPr lang="en-US" sz="2400" dirty="0" err="1"/>
              <a:t>fv</a:t>
            </a:r>
            <a:r>
              <a:rPr lang="en-US" sz="2400" dirty="0"/>
              <a:t>], [type])</a:t>
            </a:r>
          </a:p>
          <a:p>
            <a:r>
              <a:rPr lang="en-US" sz="2400" dirty="0"/>
              <a:t>  rate: Interest rate per period.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nper</a:t>
            </a:r>
            <a:r>
              <a:rPr lang="en-US" sz="2400" dirty="0"/>
              <a:t>: Total number of payment periods</a:t>
            </a:r>
          </a:p>
          <a:p>
            <a:r>
              <a:rPr lang="en-US" sz="2400" dirty="0"/>
              <a:t>. </a:t>
            </a:r>
            <a:r>
              <a:rPr lang="en-US" sz="2400" dirty="0" err="1"/>
              <a:t>pmt</a:t>
            </a:r>
            <a:r>
              <a:rPr lang="en-US" sz="2400" dirty="0"/>
              <a:t>: Payment made each period.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fv</a:t>
            </a:r>
            <a:r>
              <a:rPr lang="en-US" sz="2400" dirty="0"/>
              <a:t>: Future value (optional). Type: Payment type (0 for end of period, 1 for beginning of period). 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CAADE-CDC4-2E4C-CDF8-754FB41DA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437" y="4394200"/>
            <a:ext cx="91535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7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07CD23-997F-9DBD-83BC-6E9459180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342900"/>
            <a:ext cx="11139488" cy="5592763"/>
          </a:xfrm>
        </p:spPr>
        <p:txBody>
          <a:bodyPr/>
          <a:lstStyle/>
          <a:p>
            <a:r>
              <a:rPr lang="en-US" sz="2400" b="1" dirty="0"/>
              <a:t>Net Present Value (NPV)</a:t>
            </a:r>
          </a:p>
          <a:p>
            <a:r>
              <a:rPr lang="en-US" dirty="0"/>
              <a:t> </a:t>
            </a:r>
            <a:r>
              <a:rPr lang="en-US" sz="1800" dirty="0"/>
              <a:t>NPV calculates the net present value of an investment based on a discount rate and a series of future payments and incomes. </a:t>
            </a:r>
          </a:p>
          <a:p>
            <a:r>
              <a:rPr lang="en-US" sz="1800" dirty="0"/>
              <a:t>Excel Function: NPV =NPV(rate, value1, [value2], ...) </a:t>
            </a:r>
          </a:p>
          <a:p>
            <a:r>
              <a:rPr lang="en-US" sz="1800" dirty="0"/>
              <a:t> rate: Discount rate.  value1, value2, ...: Cash flows. </a:t>
            </a:r>
          </a:p>
          <a:p>
            <a:r>
              <a:rPr lang="en-US" sz="1800" dirty="0"/>
              <a:t>Example Investment with different cash flows: =NPV(10%, -1000, 300, 400, 500, 600)</a:t>
            </a:r>
          </a:p>
          <a:p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65FB0-6FCF-BD76-3F28-1C6A12C1E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3040062"/>
            <a:ext cx="5006975" cy="289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0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C75AE57-88A3-DCAF-5D16-78A179E12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92100"/>
            <a:ext cx="11164888" cy="6032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Equated Monthly Installment (EMI)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2000" dirty="0"/>
              <a:t>An EMI is a fixed payment amount made by a borrower to a lender at a specified date each calendar month. </a:t>
            </a:r>
          </a:p>
          <a:p>
            <a:pPr marL="0" indent="0">
              <a:buNone/>
            </a:pPr>
            <a:r>
              <a:rPr lang="en-US" sz="2000" dirty="0"/>
              <a:t>Excel Function: PMT =PMT(rate, </a:t>
            </a:r>
            <a:r>
              <a:rPr lang="en-US" sz="2000" dirty="0" err="1"/>
              <a:t>nper</a:t>
            </a:r>
            <a:r>
              <a:rPr lang="en-US" sz="2000" dirty="0"/>
              <a:t>, </a:t>
            </a:r>
            <a:r>
              <a:rPr lang="en-US" sz="2000" dirty="0" err="1"/>
              <a:t>pv</a:t>
            </a:r>
            <a:r>
              <a:rPr lang="en-US" sz="2000" dirty="0"/>
              <a:t>, [</a:t>
            </a:r>
            <a:r>
              <a:rPr lang="en-US" sz="2000" dirty="0" err="1"/>
              <a:t>fv</a:t>
            </a:r>
            <a:r>
              <a:rPr lang="en-US" sz="2000" dirty="0"/>
              <a:t>], [type])  rate: Interest rate per period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nper</a:t>
            </a:r>
            <a:r>
              <a:rPr lang="en-US" sz="2000" dirty="0"/>
              <a:t>: Total number of payment periods.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pv</a:t>
            </a:r>
            <a:r>
              <a:rPr lang="en-US" sz="2000" dirty="0"/>
              <a:t>: Present value or loan amount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fv</a:t>
            </a:r>
            <a:r>
              <a:rPr lang="en-US" sz="2000" dirty="0"/>
              <a:t>: Future value (optional).</a:t>
            </a:r>
          </a:p>
          <a:p>
            <a:pPr marL="0" indent="0">
              <a:buNone/>
            </a:pPr>
            <a:r>
              <a:rPr lang="en-US" sz="2000" dirty="0"/>
              <a:t> type: Payment type (0 for end of period, 1 for beginning of period).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9F5BC1-2C06-282C-254E-55134D8E1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337" y="3981450"/>
            <a:ext cx="953452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5F555B-1AE3-8EDA-C7F1-1500026A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508000"/>
            <a:ext cx="10872788" cy="54276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dirty="0"/>
              <a:t>Interest and Principal Components of EMI</a:t>
            </a:r>
          </a:p>
          <a:p>
            <a:pPr marL="0" indent="0">
              <a:buNone/>
            </a:pPr>
            <a:r>
              <a:rPr lang="en-US" sz="2800" dirty="0"/>
              <a:t>            </a:t>
            </a:r>
            <a:r>
              <a:rPr lang="en-US" sz="2900" dirty="0"/>
              <a:t>To calculate the interest and principal parts of the EMI:</a:t>
            </a:r>
          </a:p>
          <a:p>
            <a:pPr marL="0" indent="0">
              <a:buNone/>
            </a:pPr>
            <a:r>
              <a:rPr lang="en-US" sz="2900" dirty="0"/>
              <a:t>        Interest Component: IPMT =IPMT(rate, per, </a:t>
            </a:r>
            <a:r>
              <a:rPr lang="en-US" sz="2900" dirty="0" err="1"/>
              <a:t>nper</a:t>
            </a:r>
            <a:r>
              <a:rPr lang="en-US" sz="2900" dirty="0"/>
              <a:t>, </a:t>
            </a:r>
            <a:r>
              <a:rPr lang="en-US" sz="2900" dirty="0" err="1"/>
              <a:t>pv</a:t>
            </a:r>
            <a:r>
              <a:rPr lang="en-US" sz="2900" dirty="0"/>
              <a:t>, [</a:t>
            </a:r>
            <a:r>
              <a:rPr lang="en-US" sz="2900" dirty="0" err="1"/>
              <a:t>fv</a:t>
            </a:r>
            <a:r>
              <a:rPr lang="en-US" sz="2900" dirty="0"/>
              <a:t>], [type])</a:t>
            </a:r>
          </a:p>
          <a:p>
            <a:pPr marL="0" indent="0">
              <a:buNone/>
            </a:pPr>
            <a:r>
              <a:rPr lang="en-US" sz="2900" dirty="0"/>
              <a:t>       Principal Component: PPMT =PPMT(rate, per, </a:t>
            </a:r>
            <a:r>
              <a:rPr lang="en-US" sz="2900" dirty="0" err="1"/>
              <a:t>nper</a:t>
            </a:r>
            <a:r>
              <a:rPr lang="en-US" sz="2900" dirty="0"/>
              <a:t>, </a:t>
            </a:r>
            <a:r>
              <a:rPr lang="en-US" sz="2900" dirty="0" err="1"/>
              <a:t>pv</a:t>
            </a:r>
            <a:r>
              <a:rPr lang="en-US" sz="2900" dirty="0"/>
              <a:t>, [</a:t>
            </a:r>
            <a:r>
              <a:rPr lang="en-US" sz="2900" dirty="0" err="1"/>
              <a:t>fv</a:t>
            </a:r>
            <a:r>
              <a:rPr lang="en-US" sz="2900" dirty="0"/>
              <a:t>], [type])</a:t>
            </a:r>
          </a:p>
          <a:p>
            <a:r>
              <a:rPr lang="en-US" sz="2800" b="1" dirty="0"/>
              <a:t>Calculating Interest Rate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800" dirty="0"/>
              <a:t>To find the interest rate required to pay back a loan: </a:t>
            </a:r>
          </a:p>
          <a:p>
            <a:pPr marL="0" indent="0">
              <a:buNone/>
            </a:pPr>
            <a:r>
              <a:rPr lang="en-US" sz="2800" dirty="0"/>
              <a:t>       Excel Function: RATE =RATE(</a:t>
            </a:r>
            <a:r>
              <a:rPr lang="en-US" sz="2800" dirty="0" err="1"/>
              <a:t>nper</a:t>
            </a:r>
            <a:r>
              <a:rPr lang="en-US" sz="2800" dirty="0"/>
              <a:t>, </a:t>
            </a:r>
            <a:r>
              <a:rPr lang="en-US" sz="2800" dirty="0" err="1"/>
              <a:t>pmt</a:t>
            </a:r>
            <a:r>
              <a:rPr lang="en-US" sz="2800" dirty="0"/>
              <a:t>, </a:t>
            </a:r>
            <a:r>
              <a:rPr lang="en-US" sz="2800" dirty="0" err="1"/>
              <a:t>pv</a:t>
            </a:r>
            <a:r>
              <a:rPr lang="en-US" sz="2800" dirty="0"/>
              <a:t>, [</a:t>
            </a:r>
            <a:r>
              <a:rPr lang="en-US" sz="2800" dirty="0" err="1"/>
              <a:t>fv</a:t>
            </a:r>
            <a:r>
              <a:rPr lang="en-US" sz="2800" dirty="0"/>
              <a:t>], [type], [guess])</a:t>
            </a:r>
          </a:p>
          <a:p>
            <a:pPr marL="0" indent="0">
              <a:buNone/>
            </a:pPr>
            <a:r>
              <a:rPr lang="en-US" sz="2800" dirty="0"/>
              <a:t>                     </a:t>
            </a:r>
            <a:r>
              <a:rPr lang="en-US" sz="2800" b="1" dirty="0"/>
              <a:t>Example</a:t>
            </a:r>
            <a:r>
              <a:rPr lang="en-US" sz="2800" dirty="0"/>
              <a:t> </a:t>
            </a:r>
            <a:r>
              <a:rPr lang="en-US" sz="2100" dirty="0"/>
              <a:t>…. </a:t>
            </a:r>
            <a:r>
              <a:rPr lang="en-US" sz="2800" dirty="0"/>
              <a:t>Loan amount: 100,000 </a:t>
            </a:r>
          </a:p>
          <a:p>
            <a:pPr marL="0" indent="0">
              <a:buNone/>
            </a:pPr>
            <a:r>
              <a:rPr lang="en-US" sz="2800" dirty="0"/>
              <a:t>                     Maximum monthly payment: 12,000 </a:t>
            </a:r>
          </a:p>
          <a:p>
            <a:pPr marL="0" indent="0">
              <a:buNone/>
            </a:pPr>
            <a:r>
              <a:rPr lang="en-US" sz="2800" dirty="0"/>
              <a:t>                     Loan term: 15 months</a:t>
            </a:r>
          </a:p>
          <a:p>
            <a:pPr marL="0" indent="0">
              <a:buNone/>
            </a:pPr>
            <a:r>
              <a:rPr lang="en-US" sz="2800" dirty="0"/>
              <a:t>                  =RATE(15, -12000, 100000)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38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0D900-DF63-76D1-8285-C64359A06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03200"/>
            <a:ext cx="11063423" cy="5994400"/>
          </a:xfrm>
        </p:spPr>
        <p:txBody>
          <a:bodyPr>
            <a:normAutofit/>
          </a:bodyPr>
          <a:lstStyle/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Calculating Loan Term </a:t>
            </a:r>
          </a:p>
          <a:p>
            <a:pPr marL="0" indent="0">
              <a:buNone/>
            </a:pPr>
            <a:r>
              <a:rPr lang="en-US" sz="2000" dirty="0"/>
              <a:t>         </a:t>
            </a:r>
            <a:r>
              <a:rPr lang="en-US" sz="2400" dirty="0"/>
              <a:t>To determine the number of payments required to clear a loan:</a:t>
            </a:r>
          </a:p>
          <a:p>
            <a:pPr marL="0" indent="0">
              <a:buNone/>
            </a:pPr>
            <a:r>
              <a:rPr lang="en-US" sz="2400" dirty="0"/>
              <a:t>          Excel Function: NPER =NPER(rate, </a:t>
            </a:r>
            <a:r>
              <a:rPr lang="en-US" sz="2400" dirty="0" err="1"/>
              <a:t>pmt</a:t>
            </a:r>
            <a:r>
              <a:rPr lang="en-US" sz="2400" dirty="0"/>
              <a:t>, </a:t>
            </a:r>
            <a:r>
              <a:rPr lang="en-US" sz="2400" dirty="0" err="1"/>
              <a:t>pv</a:t>
            </a:r>
            <a:r>
              <a:rPr lang="en-US" sz="2400" dirty="0"/>
              <a:t>, [</a:t>
            </a:r>
            <a:r>
              <a:rPr lang="en-US" sz="2400" dirty="0" err="1"/>
              <a:t>fv</a:t>
            </a:r>
            <a:r>
              <a:rPr lang="en-US" sz="2400" dirty="0"/>
              <a:t>], [type])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C6512-F5AD-5741-2BBC-BDA9A6CF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36" y="203200"/>
            <a:ext cx="104965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5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BD0BC-8623-8E03-D08A-1917D6CF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54000"/>
            <a:ext cx="11101523" cy="5969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b="1" dirty="0"/>
              <a:t>Example</a:t>
            </a:r>
            <a:r>
              <a:rPr lang="en-US" sz="2800" dirty="0"/>
              <a:t> ..Loan amount: 100,000</a:t>
            </a:r>
          </a:p>
          <a:p>
            <a:pPr marL="0" indent="0">
              <a:buNone/>
            </a:pPr>
            <a:r>
              <a:rPr lang="en-US" sz="2800" dirty="0"/>
              <a:t>                          Monthly payment: 15,000</a:t>
            </a:r>
          </a:p>
          <a:p>
            <a:pPr marL="0" indent="0">
              <a:buNone/>
            </a:pPr>
            <a:r>
              <a:rPr lang="en-US" sz="2800" dirty="0"/>
              <a:t>                           Interest rate: 10% </a:t>
            </a:r>
          </a:p>
          <a:p>
            <a:pPr marL="0" indent="0">
              <a:buNone/>
            </a:pPr>
            <a:r>
              <a:rPr lang="en-US" sz="2800" dirty="0"/>
              <a:t>                          =NPER(10%/12, -15000, 100000)</a:t>
            </a:r>
          </a:p>
          <a:p>
            <a:pPr marL="0" indent="0">
              <a:buNone/>
            </a:pPr>
            <a:r>
              <a:rPr lang="en-US" sz="2800" b="1" dirty="0"/>
              <a:t>Internal Rate of Return (IRR) </a:t>
            </a:r>
          </a:p>
          <a:p>
            <a:pPr marL="0" indent="0">
              <a:buNone/>
            </a:pPr>
            <a:r>
              <a:rPr lang="en-US" sz="2800" dirty="0"/>
              <a:t>IRR is the rate of interest at which NPV is zero. </a:t>
            </a:r>
          </a:p>
          <a:p>
            <a:pPr marL="0" indent="0">
              <a:buNone/>
            </a:pPr>
            <a:r>
              <a:rPr lang="en-US" sz="2800" dirty="0"/>
              <a:t>Excel Function: IRR =IRR(values, [guess]) </a:t>
            </a:r>
          </a:p>
          <a:p>
            <a:pPr marL="0" indent="0">
              <a:buNone/>
            </a:pPr>
            <a:r>
              <a:rPr lang="en-US" sz="2800" dirty="0"/>
              <a:t>                       values: Cash flows.</a:t>
            </a:r>
          </a:p>
          <a:p>
            <a:pPr marL="0" indent="0">
              <a:buNone/>
            </a:pPr>
            <a:r>
              <a:rPr lang="en-US" sz="2800" dirty="0"/>
              <a:t>                       guess: Initial guess (optional).</a:t>
            </a:r>
          </a:p>
          <a:p>
            <a:pPr marL="0" indent="0">
              <a:buNone/>
            </a:pPr>
            <a:r>
              <a:rPr lang="en-US" sz="2800" b="1" dirty="0"/>
              <a:t>      Example </a:t>
            </a:r>
            <a:r>
              <a:rPr lang="en-US" sz="2800" dirty="0"/>
              <a:t>Calculate IRR for given cash flows: =IRR(A1:A5)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9095E-919E-A457-6F33-AC33470EF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254000"/>
            <a:ext cx="3862387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36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6CFB4-9784-F8C7-A1D7-7CF1C105F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556" y="1081881"/>
            <a:ext cx="103727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78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D9BF8-42F9-C4C2-9CB1-A961D3021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92100"/>
            <a:ext cx="11101523" cy="5642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XIRR 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800" dirty="0"/>
              <a:t>To calculate the IRR for irregularly spaced cash flows:</a:t>
            </a:r>
          </a:p>
          <a:p>
            <a:pPr marL="0" indent="0">
              <a:buNone/>
            </a:pPr>
            <a:r>
              <a:rPr lang="en-US" sz="2800" dirty="0"/>
              <a:t> Excel Function: XIRR =XIRR(values, dates, [guess])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Modified IRR (MIRR)</a:t>
            </a:r>
          </a:p>
          <a:p>
            <a:r>
              <a:rPr lang="en-US" sz="2800" dirty="0"/>
              <a:t> MIRR takes into account different finance and reinvestment rates. </a:t>
            </a:r>
          </a:p>
          <a:p>
            <a:r>
              <a:rPr lang="en-US" sz="2800" dirty="0"/>
              <a:t>Excel Function: MIRR =MIRR(values, </a:t>
            </a:r>
            <a:r>
              <a:rPr lang="en-US" sz="2800" dirty="0" err="1"/>
              <a:t>finance_rate</a:t>
            </a:r>
            <a:r>
              <a:rPr lang="en-US" sz="2800" dirty="0"/>
              <a:t>, </a:t>
            </a:r>
            <a:r>
              <a:rPr lang="en-US" sz="2800" dirty="0" err="1"/>
              <a:t>reinvest_rate</a:t>
            </a:r>
            <a:r>
              <a:rPr lang="en-US" sz="20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1DD68-A719-69D8-0137-15D955109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0" y="1323974"/>
            <a:ext cx="3114675" cy="2333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A737B9-1469-72AA-E0CE-CD0EC5C51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437" y="4722812"/>
            <a:ext cx="32861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37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F3CD-D92D-108B-9033-760ED20E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Report Insights and Analysis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845BB-682E-372A-448B-3213D45CA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257300"/>
            <a:ext cx="10981137" cy="46777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r>
              <a:rPr lang="en-US" sz="2000" dirty="0"/>
              <a:t> Annuity: Understood the concept of constant cash payments over time. </a:t>
            </a:r>
          </a:p>
          <a:p>
            <a:r>
              <a:rPr lang="en-US" sz="2000" dirty="0"/>
              <a:t> Present Value (PV): Learned to calculate the current worth of future payments. </a:t>
            </a:r>
          </a:p>
          <a:p>
            <a:r>
              <a:rPr lang="en-US" sz="2000" dirty="0"/>
              <a:t> Net Present Value (NPV) and XNPV: Compared different investments based on future cash flows. </a:t>
            </a:r>
          </a:p>
          <a:p>
            <a:r>
              <a:rPr lang="en-US" sz="2000" dirty="0"/>
              <a:t>EMI: Determined the monthly installment for a loan and its components. </a:t>
            </a:r>
          </a:p>
          <a:p>
            <a:r>
              <a:rPr lang="en-US" sz="2000" dirty="0"/>
              <a:t>Interest Rate and Loan Term: Calculated the effective interest rate and the duration required to repay a loan. </a:t>
            </a:r>
          </a:p>
          <a:p>
            <a:r>
              <a:rPr lang="en-US" sz="2000" dirty="0"/>
              <a:t>Internal Rate of Return (IRR) and Modified IRR (MIRR): Assessed the profitability of investments considering different cash flow timings and rates.</a:t>
            </a:r>
          </a:p>
          <a:p>
            <a:r>
              <a:rPr lang="en-US" sz="2000" dirty="0"/>
              <a:t> The project provided a comprehensive understanding of financial functions in Excel, enabling effective financial analysis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792579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D1D1-13F8-96E3-830A-97E575DE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6714B-B564-AE99-C350-4224DB497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Excel provides financial functions that help answer practical questions:</a:t>
            </a:r>
          </a:p>
          <a:p>
            <a:pPr lvl="0"/>
            <a:r>
              <a:rPr lang="en-US" sz="2400" dirty="0"/>
              <a:t>Payment decisions: Is it better to pay now or in installments?</a:t>
            </a:r>
          </a:p>
          <a:p>
            <a:pPr lvl="0"/>
            <a:r>
              <a:rPr lang="en-US" sz="2400" dirty="0"/>
              <a:t>Loan planning: How much must be paid each month?</a:t>
            </a:r>
          </a:p>
          <a:p>
            <a:pPr lvl="0"/>
            <a:r>
              <a:rPr lang="en-US" sz="2400" dirty="0"/>
              <a:t>Investment evaluation: Do future returns justify the initial cost?</a:t>
            </a:r>
          </a:p>
          <a:p>
            <a:pPr lvl="0"/>
            <a:r>
              <a:rPr lang="en-US" sz="2400" dirty="0"/>
              <a:t>Cash-flow timing: How does the timing of payments affect value</a:t>
            </a:r>
          </a:p>
          <a:p>
            <a:r>
              <a:rPr lang="en-US" sz="2400" dirty="0"/>
              <a:t> The project provided a comprehensive understanding of financial functions in Excel, enabling effective financial analysis and decision-making.</a:t>
            </a:r>
          </a:p>
          <a:p>
            <a:pPr lv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7322866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134</TotalTime>
  <Words>1240</Words>
  <Application>Microsoft Office PowerPoint</Application>
  <PresentationFormat>Widescreen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Oswald SemiBold</vt:lpstr>
      <vt:lpstr>Univers Condensed Light</vt:lpstr>
      <vt:lpstr>Orange Experience</vt:lpstr>
      <vt:lpstr>Financial Analysis </vt:lpstr>
      <vt:lpstr>PowerPoint Presentation</vt:lpstr>
      <vt:lpstr>Introduction</vt:lpstr>
      <vt:lpstr>Objectives and Scope </vt:lpstr>
      <vt:lpstr>Methodology and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Report Insights and Analysis  </vt:lpstr>
      <vt:lpstr>CONCLUSION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2026-09-06T19:17:22Z</dcterms:created>
  <dcterms:modified xsi:type="dcterms:W3CDTF">2026-09-11T10:57:37Z</dcterms:modified>
</cp:coreProperties>
</file>